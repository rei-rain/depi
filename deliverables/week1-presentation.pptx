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65760"/>
            <a:ext cx="1737360" cy="1737360"/>
          </a:xfrm>
          <a:prstGeom prst="ellipse">
            <a:avLst/>
          </a:prstGeom>
          <a:solidFill>
            <a:srgbClr val="2E5FA3">
              <a:alpha val="30000"/>
            </a:srgbClr>
          </a:solidFill>
          <a:ln w="1270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594360"/>
            <a:ext cx="1188720" cy="1188720"/>
          </a:xfrm>
          <a:prstGeom prst="ellipse">
            <a:avLst/>
          </a:prstGeom>
          <a:solidFill>
            <a:srgbClr val="0D9E75">
              <a:alpha val="40000"/>
            </a:srgbClr>
          </a:solidFill>
          <a:ln w="12700">
            <a:solidFill>
              <a:srgbClr val="0D9E75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1371600" cy="329184"/>
          </a:xfrm>
          <a:prstGeom prst="rect">
            <a:avLst>
              <a:gd name="adj" fmla="val 13889"/>
            </a:avLst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Foundation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Awareness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E75"/>
                </a:solidFill>
              </a:rPr>
              <a:t>Cybersecurity Incident Response Framework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E5FA3">
              <a:alpha val="60000"/>
            </a:srgbClr>
          </a:solidFill>
          <a:ln w="12700">
            <a:solidFill>
              <a:srgbClr val="2E5FA3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6E0"/>
                </a:solidFill>
              </a:rPr>
              <a:t>DEPI Academic Project  |  Cybersecurity IR Framework  |  Team Research Lead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2560320"/>
            <a:ext cx="1097280" cy="1097280"/>
          </a:xfrm>
          <a:prstGeom prst="ellipse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3291840"/>
            <a:ext cx="640080" cy="640080"/>
          </a:xfrm>
          <a:prstGeom prst="ellipse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Core Security Principles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D9E75"/>
                </a:solidFill>
              </a:rPr>
              <a:t>2 /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377440" cy="23774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161288"/>
            <a:ext cx="2157984" cy="2157984"/>
          </a:xfrm>
          <a:prstGeom prst="ellipse">
            <a:avLst/>
          </a:prstGeom>
          <a:solidFill>
            <a:srgbClr val="2E5FA3">
              <a:alpha val="7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Confidentiality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accessible only to authorized users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377440" cy="2377440"/>
          </a:xfrm>
          <a:prstGeom prst="ellipse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1161288"/>
            <a:ext cx="2157984" cy="2157984"/>
          </a:xfrm>
          <a:prstGeom prst="ellipse">
            <a:avLst/>
          </a:prstGeom>
          <a:solidFill>
            <a:srgbClr val="0D9E75">
              <a:alpha val="7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63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is accurate and untampered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377440" cy="2377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6208" y="1161288"/>
            <a:ext cx="2157984" cy="2157984"/>
          </a:xfrm>
          <a:prstGeom prst="ellipse">
            <a:avLst/>
          </a:prstGeom>
          <a:solidFill>
            <a:srgbClr val="E67E22">
              <a:alpha val="7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63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Availability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Systems accessible when needed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3566160"/>
            <a:ext cx="2194560" cy="3657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THE CIA TRIAD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69080"/>
            <a:ext cx="2651760" cy="777240"/>
          </a:xfrm>
          <a:prstGeom prst="rect">
            <a:avLst/>
          </a:prstGeom>
          <a:solidFill>
            <a:srgbClr val="2E5FA3">
              <a:alpha val="90000"/>
            </a:srgbClr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069080"/>
            <a:ext cx="64008" cy="7772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Defense in Depth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53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0"/>
                </a:solidFill>
              </a:rPr>
              <a:t>Multiple layered security controls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4069080"/>
            <a:ext cx="2651760" cy="777240"/>
          </a:xfrm>
          <a:prstGeom prst="rect">
            <a:avLst/>
          </a:prstGeom>
          <a:solidFill>
            <a:srgbClr val="0D9E75">
              <a:alpha val="90000"/>
            </a:srgbClr>
          </a:solidFill>
          <a:ln w="12700">
            <a:solidFill>
              <a:srgbClr val="0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4069080"/>
            <a:ext cx="64008" cy="77724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Least Privilege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4453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0"/>
                </a:solidFill>
              </a:rPr>
              <a:t>Minimum permissions required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4069080"/>
            <a:ext cx="2651760" cy="777240"/>
          </a:xfrm>
          <a:prstGeom prst="rect">
            <a:avLst/>
          </a:prstGeom>
          <a:solidFill>
            <a:srgbClr val="1A2B5E">
              <a:alpha val="90000"/>
            </a:srgbClr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4069080"/>
            <a:ext cx="64008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Trust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44531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6E0"/>
                </a:solidFill>
              </a:rPr>
              <a:t>Never trust, always verify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Threat Landscape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0392B"/>
                </a:solidFill>
              </a:rPr>
              <a:t>3 /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50292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Over 80% of all cybersecurity incidents begin with phishing — the most critical initial attack vector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37360"/>
            <a:ext cx="26974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C3A"/>
                </a:solidFill>
              </a:rPr>
              <a:t>Phishing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80%+ of incidents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737360"/>
            <a:ext cx="269748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C3A"/>
                </a:solidFill>
              </a:rPr>
              <a:t>Ransomware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Up 93% in 2021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737360"/>
            <a:ext cx="269748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C3A"/>
                </a:solidFill>
              </a:rPr>
              <a:t>Malware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2240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FA3"/>
                </a:solidFill>
              </a:rPr>
              <a:t>94% of data breaches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00400"/>
            <a:ext cx="2697480" cy="5486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C3A"/>
                </a:solidFill>
              </a:rPr>
              <a:t>DDoS Attack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$218K/hour downtime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200400"/>
            <a:ext cx="2697480" cy="54864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C3A"/>
                </a:solidFill>
              </a:rPr>
              <a:t>Insider Threat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10128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34% of all breaches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20040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3200400"/>
            <a:ext cx="2697480" cy="54864"/>
          </a:xfrm>
          <a:prstGeom prst="rect">
            <a:avLst/>
          </a:prstGeom>
          <a:solidFill>
            <a:srgbClr val="3D3C3A"/>
          </a:solidFill>
          <a:ln w="12700">
            <a:solidFill>
              <a:srgbClr val="3D3C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C3A"/>
                </a:solidFill>
              </a:rPr>
              <a:t>Man-in-Middle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3C3A"/>
                </a:solidFill>
              </a:rPr>
              <a:t>Common on open Wi-Fi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Attacker Techniques → Defensive Controls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D9E75"/>
                </a:solidFill>
              </a:rPr>
              <a:t>4 /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2860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1005840"/>
            <a:ext cx="2468880" cy="411480"/>
          </a:xfrm>
          <a:prstGeom prst="rect">
            <a:avLst/>
          </a:prstGeom>
          <a:solidFill>
            <a:srgbClr val="3D3C3A"/>
          </a:solidFill>
          <a:ln w="12700">
            <a:solidFill>
              <a:srgbClr val="3D3C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0" y="1005840"/>
            <a:ext cx="3474720" cy="41148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Attack Technique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005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 / Command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005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Defensive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8595360" cy="594360"/>
          </a:xfrm>
          <a:prstGeom prst="rect">
            <a:avLst/>
          </a:prstGeom>
          <a:solidFill>
            <a:srgbClr val="F0EEE8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508760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508760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Ping Sweep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1508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Block ICMP at perimeter firewall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6712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167128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167128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Port Scanning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16712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21671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Close all unused ports immediately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25496"/>
            <a:ext cx="8595360" cy="594360"/>
          </a:xfrm>
          <a:prstGeom prst="rect">
            <a:avLst/>
          </a:prstGeom>
          <a:solidFill>
            <a:srgbClr val="F0EEE8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25496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825496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Service Detection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282549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282549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Patch all services — remove known CVEs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48386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483864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483864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OS Fingerprinting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348386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48386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Normalize TCP/IP packet responses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142232"/>
            <a:ext cx="8595360" cy="594360"/>
          </a:xfrm>
          <a:prstGeom prst="rect">
            <a:avLst/>
          </a:prstGeom>
          <a:solidFill>
            <a:srgbClr val="F0EEE8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42232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142232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C3A"/>
                </a:solidFill>
              </a:rPr>
              <a:t>Network Enumeration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0" y="41422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enum4linux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414223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E75"/>
                </a:solidFill>
              </a:rPr>
              <a:t>Restrict SNMP, DNS transfers, NetBIOS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1A2B5E">
              <a:alpha val="90000"/>
            </a:srgbClr>
          </a:solidFill>
          <a:ln w="12700">
            <a:solidFill>
              <a:srgbClr val="1A2B5E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Key insight: Every attacker technique maps directly to a specific defensive control. Know the attack, close the gap.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365760"/>
            <a:ext cx="3200400" cy="3200400"/>
          </a:xfrm>
          <a:prstGeom prst="ellipse">
            <a:avLst/>
          </a:prstGeom>
          <a:solidFill>
            <a:srgbClr val="2E5FA3">
              <a:alpha val="20000"/>
            </a:srgbClr>
          </a:solidFill>
          <a:ln w="12700">
            <a:solidFill>
              <a:srgbClr val="2E5FA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E75"/>
                </a:solidFill>
              </a:rPr>
              <a:t>Week 1 — Foundation &amp; Awareness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640080" cy="65836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 CIA Triad (Confidentiality, Integrity, Availability) governs every security decision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841248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12848"/>
            <a:ext cx="640080" cy="658368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1284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21284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Phishing drives 80%+ of incidents — making email security the highest-priority control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08376"/>
            <a:ext cx="841248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08376"/>
            <a:ext cx="64008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0837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00837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Ransomware follows a predictable 6-stage chain — early detection prevents encryption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03904"/>
            <a:ext cx="8412480" cy="658368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03904"/>
            <a:ext cx="64008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0390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803904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Every attacker reconnaissance technique maps to a specific hardening control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E75"/>
                </a:solidFill>
              </a:rPr>
              <a:t>Next: Week 2 — Incident Response Planning →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Foundation &amp; Awareness</dc:title>
  <dc:subject>PptxGenJS Presentation</dc:subject>
  <dc:creator>DEPI Cybersecurity Team</dc:creator>
  <cp:lastModifiedBy>DEPI Cybersecurity Team</cp:lastModifiedBy>
  <cp:revision>1</cp:revision>
  <dcterms:created xsi:type="dcterms:W3CDTF">2026-03-27T03:54:03Z</dcterms:created>
  <dcterms:modified xsi:type="dcterms:W3CDTF">2026-03-27T03:54:03Z</dcterms:modified>
</cp:coreProperties>
</file>