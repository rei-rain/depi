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94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CBF0"/>
                </a:solidFill>
              </a:rPr>
              <a:t>DEPI Academic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Week 1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Foundation &amp;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Awareness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4663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BF0"/>
                </a:solidFill>
              </a:rPr>
              <a:t>Cybersecurity Incident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CBF0"/>
                </a:solidFill>
              </a:rPr>
              <a:t>Response 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0"/>
            <a:ext cx="3200400" cy="0"/>
          </a:xfrm>
          <a:prstGeom prst="line">
            <a:avLst/>
          </a:prstGeom>
          <a:noFill/>
          <a:ln w="6350">
            <a:solidFill>
              <a:srgbClr val="AAC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645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What we cover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2212848"/>
            <a:ext cx="502920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2423160"/>
            <a:ext cx="6217920" cy="713232"/>
          </a:xfrm>
          <a:prstGeom prst="rect">
            <a:avLst/>
          </a:prstGeom>
          <a:solidFill>
            <a:srgbClr val="EBF2FB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423160"/>
            <a:ext cx="54864" cy="713232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2423160"/>
            <a:ext cx="5833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The CIA Triad and core security principles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6217920" cy="713232"/>
          </a:xfrm>
          <a:prstGeom prst="rect">
            <a:avLst/>
          </a:prstGeom>
          <a:solidFill>
            <a:srgbClr val="EBF2FB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3337560"/>
            <a:ext cx="54864" cy="713232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3337560"/>
            <a:ext cx="5833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The 6 most dangerous threat types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4251960"/>
            <a:ext cx="6217920" cy="713232"/>
          </a:xfrm>
          <a:prstGeom prst="rect">
            <a:avLst/>
          </a:prstGeom>
          <a:solidFill>
            <a:srgbClr val="EBF2FB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4251960"/>
            <a:ext cx="54864" cy="713232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4251960"/>
            <a:ext cx="5833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How attackers discover and map networks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5166360"/>
            <a:ext cx="6217920" cy="713232"/>
          </a:xfrm>
          <a:prstGeom prst="rect">
            <a:avLst/>
          </a:prstGeom>
          <a:solidFill>
            <a:srgbClr val="EBF2FB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5166360"/>
            <a:ext cx="54864" cy="713232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5166360"/>
            <a:ext cx="58338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How defense maps directly to each attack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199632"/>
            <a:ext cx="12161520" cy="658368"/>
          </a:xfrm>
          <a:prstGeom prst="rect">
            <a:avLst/>
          </a:prstGeom>
          <a:solidFill>
            <a:srgbClr val="F0EEE8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236208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Omar  ·  Youssef  ·  Omar  ·  Mahmoud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0DA"/>
                </a:solidFill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760220" cy="329184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502920"/>
            <a:ext cx="1632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PRINCIPLES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Every security decision starts here.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3566160" cy="54864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822960" cy="82296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FA6"/>
                </a:solidFill>
              </a:rPr>
              <a:t>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084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Confidentiality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301752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Data accessible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to authorized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05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6"/>
                </a:solidFill>
              </a:rPr>
              <a:t>Threat: Data breach,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5FA6"/>
                </a:solidFill>
              </a:rPr>
              <a:t>eavesdropping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1783080"/>
            <a:ext cx="3566160" cy="54864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1965960"/>
            <a:ext cx="822960" cy="822960"/>
          </a:xfrm>
          <a:prstGeom prst="rect">
            <a:avLst/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F"/>
                </a:solidFill>
              </a:rPr>
              <a:t>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96128" y="2084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Integrity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36008" y="2971800"/>
            <a:ext cx="301752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Data is accurate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has not been tampered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005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F"/>
                </a:solidFill>
              </a:rPr>
              <a:t>Threat: Man-in-the-middle,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7A5F"/>
                </a:solidFill>
              </a:rPr>
              <a:t>corruption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0456" y="178308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1783080"/>
            <a:ext cx="3566160" cy="54864"/>
          </a:xfrm>
          <a:prstGeom prst="rect">
            <a:avLst/>
          </a:prstGeom>
          <a:solidFill>
            <a:srgbClr val="C05C0A"/>
          </a:solidFill>
          <a:ln w="12700">
            <a:solidFill>
              <a:srgbClr val="C05C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94776" y="1965960"/>
            <a:ext cx="822960" cy="822960"/>
          </a:xfrm>
          <a:prstGeom prst="rect">
            <a:avLst/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4776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C0A"/>
                </a:solidFill>
              </a:rPr>
              <a:t>A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454896" y="2084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94776" y="2971800"/>
            <a:ext cx="301752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4776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Systems accessible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whenever they are needed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94776" y="4005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C0A"/>
                </a:solidFill>
              </a:rPr>
              <a:t>Threat: DDoS attack,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05C0A"/>
                </a:solidFill>
              </a:rPr>
              <a:t>ransomware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166360"/>
            <a:ext cx="56235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166360"/>
            <a:ext cx="54864" cy="1325880"/>
          </a:xfrm>
          <a:prstGeom prst="rect">
            <a:avLst/>
          </a:prstGeom>
          <a:solidFill>
            <a:srgbClr val="5038A0"/>
          </a:solidFill>
          <a:ln w="12700">
            <a:solidFill>
              <a:srgbClr val="503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3218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Defense in Depth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7790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Multiple layers of controls. If one fails, the next catches it.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73368" y="5166360"/>
            <a:ext cx="56235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5166360"/>
            <a:ext cx="54864" cy="1325880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53218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Zero Trust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01968" y="57790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Never trust, always verify — even inside the network.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0DA"/>
                </a:solidFill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856232" cy="329184"/>
          </a:xfrm>
          <a:prstGeom prst="rect">
            <a:avLst/>
          </a:prstGeom>
          <a:solidFill>
            <a:srgbClr val="B22020"/>
          </a:solidFill>
          <a:ln w="12700">
            <a:solidFill>
              <a:srgbClr val="B2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502920"/>
            <a:ext cx="1728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6 threats. One dominates.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566928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54864" cy="566928"/>
          </a:xfrm>
          <a:prstGeom prst="rect">
            <a:avLst/>
          </a:prstGeom>
          <a:solidFill>
            <a:srgbClr val="B22020"/>
          </a:solidFill>
          <a:ln w="12700">
            <a:solidFill>
              <a:srgbClr val="B2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3619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020"/>
                </a:solidFill>
              </a:rPr>
              <a:t>Over 80% of all cybersecurity incidents begin with phishing — not sophisticated hacks, just a fake email.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560320"/>
            <a:ext cx="621792" cy="621792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2020"/>
                </a:solidFill>
              </a:rPr>
              <a:t>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0472" y="2615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Phishing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0472" y="29535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2020"/>
                </a:solidFill>
              </a:rPr>
              <a:t>80%+ of incidents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" y="338328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47472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Fake emails steal credentials or install malware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61688" y="235915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560320"/>
            <a:ext cx="621792" cy="621792"/>
          </a:xfrm>
          <a:prstGeom prst="rect">
            <a:avLst/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5603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C0A"/>
                </a:solidFill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615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Ransomware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9535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C0A"/>
                </a:solidFill>
              </a:rPr>
              <a:t>↑ 93% in 2021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338328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47472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Encrypts files, demands payment to restore access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0456" y="235915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560320"/>
            <a:ext cx="621792" cy="621792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25603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A6"/>
                </a:solidFill>
              </a:rPr>
              <a:t>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8008" y="2615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Malware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08008" y="29535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6"/>
                </a:solidFill>
              </a:rPr>
              <a:t>94% of breaches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76488" y="338328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347472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Trojans, worms, rootkits — damage and steal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37083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4572000"/>
            <a:ext cx="621792" cy="621792"/>
          </a:xfrm>
          <a:prstGeom prst="rect">
            <a:avLst/>
          </a:prstGeom>
          <a:solidFill>
            <a:srgbClr val="E8ECFB"/>
          </a:solidFill>
          <a:ln w="12700">
            <a:solidFill>
              <a:srgbClr val="E8EC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572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466"/>
                </a:solidFill>
              </a:rPr>
              <a:t>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0472" y="46268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DDoS Attack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90472" y="4965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466"/>
                </a:solidFill>
              </a:rPr>
              <a:t>$218K / hour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8952" y="539496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54864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Floods systems to deny service to legitimate users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61688" y="437083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4572000"/>
            <a:ext cx="621792" cy="621792"/>
          </a:xfrm>
          <a:prstGeom prst="rect">
            <a:avLst/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572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A5F"/>
                </a:solidFill>
              </a:rPr>
              <a:t>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46268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Insider Threat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4965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5F"/>
                </a:solidFill>
              </a:rPr>
              <a:t>34% of breaches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17720" y="539496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54864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Employees or contractors misusing their access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0456" y="4370832"/>
            <a:ext cx="35844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76488" y="4572000"/>
            <a:ext cx="621792" cy="621792"/>
          </a:xfrm>
          <a:prstGeom prst="rect">
            <a:avLst/>
          </a:prstGeom>
          <a:solidFill>
            <a:srgbClr val="F0EEE8"/>
          </a:solidFill>
          <a:ln w="12700">
            <a:solidFill>
              <a:srgbClr val="F0E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6488" y="4572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</a:rPr>
              <a:t>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08008" y="46268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Man-in-Middle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08008" y="4965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Wi-Fi networks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476488" y="5394960"/>
            <a:ext cx="3072384" cy="0"/>
          </a:xfrm>
          <a:prstGeom prst="line">
            <a:avLst/>
          </a:prstGeom>
          <a:noFill/>
          <a:ln w="5080">
            <a:solidFill>
              <a:srgbClr val="E2E0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76488" y="54864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Intercepts traffic between two parties silently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0DA"/>
                </a:solidFill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952244" cy="329184"/>
          </a:xfrm>
          <a:prstGeom prst="rect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502920"/>
            <a:ext cx="18242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 DISCOVERY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Every attack technique has a direct defensive answer.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A6"/>
                </a:solidFill>
              </a:rPr>
              <a:t>Attack Technique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2834640" cy="0"/>
          </a:xfrm>
          <a:prstGeom prst="line">
            <a:avLst/>
          </a:prstGeom>
          <a:noFill/>
          <a:ln w="15240">
            <a:solidFill>
              <a:srgbClr val="1F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55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4A4A"/>
                </a:solidFill>
              </a:rPr>
              <a:t>Command Used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121408"/>
            <a:ext cx="2651760" cy="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55648"/>
            <a:ext cx="5559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5F"/>
                </a:solidFill>
              </a:rPr>
              <a:t>Defensive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468112" cy="0"/>
          </a:xfrm>
          <a:prstGeom prst="line">
            <a:avLst/>
          </a:prstGeom>
          <a:noFill/>
          <a:ln w="15240">
            <a:solidFill>
              <a:srgbClr val="0E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59152"/>
            <a:ext cx="11045952" cy="7680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27248"/>
            <a:ext cx="11045952" cy="0"/>
          </a:xfrm>
          <a:prstGeom prst="line">
            <a:avLst/>
          </a:prstGeom>
          <a:noFill/>
          <a:ln w="3810">
            <a:solidFill>
              <a:srgbClr val="E2E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51760"/>
            <a:ext cx="182880" cy="182880"/>
          </a:xfrm>
          <a:prstGeom prst="ellipse">
            <a:avLst/>
          </a:prstGeom>
          <a:solidFill>
            <a:srgbClr val="B22020"/>
          </a:solidFill>
          <a:ln w="12700">
            <a:solidFill>
              <a:srgbClr val="B2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Ping Sweep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020"/>
                </a:solidFill>
              </a:rPr>
              <a:t>Block ICMP at the perimeter firewall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11045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68496"/>
            <a:ext cx="11045952" cy="0"/>
          </a:xfrm>
          <a:prstGeom prst="line">
            <a:avLst/>
          </a:prstGeom>
          <a:noFill/>
          <a:ln w="3810">
            <a:solidFill>
              <a:srgbClr val="E2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493008"/>
            <a:ext cx="182880" cy="182880"/>
          </a:xfrm>
          <a:prstGeom prst="ellipse">
            <a:avLst/>
          </a:prstGeom>
          <a:solidFill>
            <a:srgbClr val="C05C0A"/>
          </a:solidFill>
          <a:ln w="12700">
            <a:solidFill>
              <a:srgbClr val="C05C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2644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Port Scanning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20440" y="3264408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2644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C0A"/>
                </a:solidFill>
              </a:rPr>
              <a:t>Close all unused ports immediately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41648"/>
            <a:ext cx="11045952" cy="7680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809744"/>
            <a:ext cx="11045952" cy="0"/>
          </a:xfrm>
          <a:prstGeom prst="line">
            <a:avLst/>
          </a:prstGeom>
          <a:noFill/>
          <a:ln w="3810">
            <a:solidFill>
              <a:srgbClr val="E2E0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334256"/>
            <a:ext cx="182880" cy="182880"/>
          </a:xfrm>
          <a:prstGeom prst="ellipse">
            <a:avLst/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10565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Service Detection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20440" y="4105656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410565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A6"/>
                </a:solidFill>
              </a:rPr>
              <a:t>Patch all services — eliminate known CVEs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4882896"/>
            <a:ext cx="11045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650992"/>
            <a:ext cx="11045952" cy="0"/>
          </a:xfrm>
          <a:prstGeom prst="line">
            <a:avLst/>
          </a:prstGeom>
          <a:noFill/>
          <a:ln w="3810">
            <a:solidFill>
              <a:srgbClr val="E2E0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175504"/>
            <a:ext cx="182880" cy="182880"/>
          </a:xfrm>
          <a:prstGeom prst="ellipse">
            <a:avLst/>
          </a:prstGeom>
          <a:solidFill>
            <a:srgbClr val="5038A0"/>
          </a:solidFill>
          <a:ln w="12700">
            <a:solidFill>
              <a:srgbClr val="503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94690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OS Fingerprinting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20440" y="4946904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0" y="494690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38A0"/>
                </a:solidFill>
              </a:rPr>
              <a:t>Normalize TCP/IP responses to hide OS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5724144"/>
            <a:ext cx="11045952" cy="7680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6492240"/>
            <a:ext cx="11045952" cy="0"/>
          </a:xfrm>
          <a:prstGeom prst="line">
            <a:avLst/>
          </a:prstGeom>
          <a:noFill/>
          <a:ln w="3810">
            <a:solidFill>
              <a:srgbClr val="E2E0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6016752"/>
            <a:ext cx="182880" cy="18288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78815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Enumeration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20440" y="578815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enum4linux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0" y="578815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</a:rPr>
              <a:t>Restrict SNMP, DNS transfers, NetBIOS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" y="6492240"/>
            <a:ext cx="11045952" cy="256032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649224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A6"/>
                </a:solidFill>
              </a:rPr>
              <a:t>Know what the attacker sees → close it before they exploit it.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0DA"/>
                </a:solidFill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568196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502920"/>
            <a:ext cx="1440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4 things to remember from Week 1.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1045952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842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0DA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08760" y="2039112"/>
            <a:ext cx="0" cy="713232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965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A6"/>
                </a:solidFill>
              </a:rPr>
              <a:t>CIA Triad guides everything.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1640" y="2404872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Every security decision — including every phase of our IR framework — is evaluated against Confidentiality, Integrity, and Availability.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44952"/>
            <a:ext cx="110459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0DA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08760" y="3209544"/>
            <a:ext cx="0" cy="713232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1363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2020"/>
                </a:solidFill>
              </a:rPr>
              <a:t>Phishing is the #1 threat.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91640" y="3575304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80%+ of incidents start with a fake email. Blocking phishing at the email gateway is the single highest-impact defensive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15384"/>
            <a:ext cx="11045952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2511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0DA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08760" y="4379976"/>
            <a:ext cx="0" cy="713232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430682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5C0A"/>
                </a:solidFill>
              </a:rPr>
              <a:t>Ransomware follows a predictable chain.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91640" y="4745736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6 stages from initial access to encryption. Early detection during lateral movement prevents full damage — the chain can be broken.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385816"/>
            <a:ext cx="110459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9554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0DA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08760" y="5550408"/>
            <a:ext cx="0" cy="713232"/>
          </a:xfrm>
          <a:prstGeom prst="line">
            <a:avLst/>
          </a:prstGeom>
          <a:noFill/>
          <a:ln w="6350">
            <a:solidFill>
              <a:srgbClr val="E2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547725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</a:rPr>
              <a:t>Every attack maps to a defense.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91640" y="5916168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Ping sweep → block ICMP. Port scan → close unused ports. Version detection → patch. Knowing the attacker's toolkit tells you exactly what to close.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0DA"/>
                </a:solidFill>
              </a:rPr>
              <a:t>Next → Week 2: Building the Incident Response Plan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0DA"/>
                </a:solidFill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Foundation &amp; Awareness</dc:title>
  <dc:subject>PptxGenJS Presentation</dc:subject>
  <dc:creator>DEPI Team</dc:creator>
  <cp:lastModifiedBy>DEPI Team</cp:lastModifiedBy>
  <cp:revision>1</cp:revision>
  <dcterms:created xsi:type="dcterms:W3CDTF">2026-04-01T19:34:02Z</dcterms:created>
  <dcterms:modified xsi:type="dcterms:W3CDTF">2026-04-01T19:34:02Z</dcterms:modified>
</cp:coreProperties>
</file>