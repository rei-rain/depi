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46520"/>
            <a:ext cx="12161520" cy="41148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FFFFFF"/>
                </a:solidFill>
              </a:rPr>
              <a:t>CYBERSECURITY  ·  INCIDENT RESPONSE  ·  DEPI ACADEMIC PROJECT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11155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1A1A1A"/>
                </a:solidFill>
              </a:rPr>
              <a:t>Incident Response</a:t>
            </a:r>
            <a:endParaRPr lang="en-US" sz="6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1A1A1A"/>
                </a:solidFill>
              </a:rPr>
              <a:t>Framework</a:t>
            </a:r>
            <a:endParaRPr lang="en-US" sz="6800" dirty="0"/>
          </a:p>
        </p:txBody>
      </p:sp>
      <p:sp>
        <p:nvSpPr>
          <p:cNvPr id="6" name="Shape 4"/>
          <p:cNvSpPr/>
          <p:nvPr/>
        </p:nvSpPr>
        <p:spPr>
          <a:xfrm>
            <a:off x="502920" y="4041648"/>
            <a:ext cx="4114800" cy="0"/>
          </a:xfrm>
          <a:prstGeom prst="line">
            <a:avLst/>
          </a:prstGeom>
          <a:noFill/>
          <a:ln w="25400">
            <a:solidFill>
              <a:srgbClr val="1A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2245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</a:rPr>
              <a:t>4-Week Project — Research · Planning · Simulation · Report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864608"/>
            <a:ext cx="2788920" cy="53035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864608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Week 1  Research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47288" y="4864608"/>
            <a:ext cx="2788920" cy="530352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4864608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Week 2  Planning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91656" y="4864608"/>
            <a:ext cx="2788920" cy="530352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4864608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Week 3  Simulation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336024" y="4864608"/>
            <a:ext cx="2788920" cy="530352"/>
          </a:xfrm>
          <a:prstGeom prst="rect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36024" y="4864608"/>
            <a:ext cx="2788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Week 4  Report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6510528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8A8"/>
                </a:solidFill>
              </a:rPr>
              <a:t>Omar  ·  Youssef  ·  Omar  ·  Mahmoud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What Did We Build?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Project objective — one clear statement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OVERVIEW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11393424" cy="1051560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0" cy="0"/>
          </a:xfrm>
          <a:prstGeom prst="line">
            <a:avLst/>
          </a:prstGeom>
          <a:noFill/>
          <a:ln w="38100">
            <a:solidFill>
              <a:srgbClr val="1A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1298448"/>
            <a:ext cx="1111910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</a:rPr>
              <a:t>A complete, tested cybersecurity incident response framework — built from zero, documented to DEPI standards, and validated against a real ransomware attack.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384048" y="2578608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578608"/>
            <a:ext cx="2816352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07208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5E0"/>
                </a:solidFill>
              </a:rPr>
              <a:t>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84048" y="353872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6FBF"/>
                </a:solidFill>
              </a:rPr>
              <a:t>Research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6968" y="4059936"/>
            <a:ext cx="1810512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4281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Threat landscape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&amp; attacker techniques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55848" y="2578608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55848" y="2578608"/>
            <a:ext cx="2816352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55848" y="2807208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5E0"/>
                </a:solidFill>
              </a:rPr>
              <a:t>02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3355848" y="353872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8A65"/>
                </a:solidFill>
              </a:rPr>
              <a:t>Plan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58768" y="4059936"/>
            <a:ext cx="1810512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424281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IR Framework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&amp; secure architecture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27648" y="2578608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578608"/>
            <a:ext cx="2816352" cy="0"/>
          </a:xfrm>
          <a:prstGeom prst="line">
            <a:avLst/>
          </a:prstGeom>
          <a:noFill/>
          <a:ln w="31750">
            <a:solidFill>
              <a:srgbClr val="C55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7648" y="2807208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5E0"/>
                </a:solidFill>
              </a:rPr>
              <a:t>03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327648" y="353872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55A00"/>
                </a:solidFill>
              </a:rPr>
              <a:t>Simulate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30568" y="4059936"/>
            <a:ext cx="1810512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424281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Live tabletop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ransomware exercise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299448" y="2578608"/>
            <a:ext cx="2816352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99448" y="2578608"/>
            <a:ext cx="2816352" cy="0"/>
          </a:xfrm>
          <a:prstGeom prst="line">
            <a:avLst/>
          </a:prstGeom>
          <a:noFill/>
          <a:ln w="31750">
            <a:solidFill>
              <a:srgbClr val="5B3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99448" y="2807208"/>
            <a:ext cx="281635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E5E0"/>
                </a:solidFill>
              </a:rPr>
              <a:t>04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9299448" y="3538728"/>
            <a:ext cx="28163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3FA8"/>
                </a:solidFill>
              </a:rPr>
              <a:t>Report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802368" y="4059936"/>
            <a:ext cx="1810512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64040" y="424281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37 documents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full DEPI compliance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Our Team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4 clear roles — each person owns one domain across all 4 weeks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TEAM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325880"/>
            <a:ext cx="2816352" cy="5230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325880"/>
            <a:ext cx="2816352" cy="62179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356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Research Lead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12064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6FBF"/>
                </a:solidFill>
              </a:rPr>
              <a:t>Omar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12064" y="2697480"/>
            <a:ext cx="256032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8620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Threat landscape research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3931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Literature review &amp; academic sources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441655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Framework analysis (NIST · SANS)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1937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Executive summary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5848" y="1325880"/>
            <a:ext cx="2816352" cy="5230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55848" y="1325880"/>
            <a:ext cx="2816352" cy="621792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83864" y="14356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Technical Lead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83864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8A65"/>
                </a:solidFill>
              </a:rPr>
              <a:t>Youssef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3483864" y="2697480"/>
            <a:ext cx="256032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8620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Secure architecture design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20440" y="363931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Network discovery documentation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520440" y="441655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Simulation execution &amp; logging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520440" y="51937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Technical report sections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27648" y="1325880"/>
            <a:ext cx="2816352" cy="5230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27648" y="1325880"/>
            <a:ext cx="2816352" cy="621792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55664" y="14356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Documentation Lead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55664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00"/>
                </a:solidFill>
              </a:rPr>
              <a:t>Omar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455664" y="2697480"/>
            <a:ext cx="256032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8620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IR Plan document (6 phases)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92240" y="363931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All formal reports compiled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92240" y="441655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Final report quality &amp; structure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92240" y="51937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Stakeholder documentation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299448" y="1325880"/>
            <a:ext cx="2816352" cy="5230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99448" y="1325880"/>
            <a:ext cx="2816352" cy="621792"/>
          </a:xfrm>
          <a:prstGeom prst="rect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27464" y="1435608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Presenter Lead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427464" y="213055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3FA8"/>
                </a:solidFill>
              </a:rPr>
              <a:t>Mahmoud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9427464" y="2697480"/>
            <a:ext cx="256032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64040" y="286207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Presentation slides (2 decks)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464040" y="363931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Speaker notes all 14 slides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464040" y="441655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Q&amp;A preparation &amp; practice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464040" y="5193792"/>
            <a:ext cx="24871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→  Live presentation delivery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The Threat Landscape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1 — what organizations are actually facing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11393424" cy="658368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0" cy="0"/>
          </a:xfrm>
          <a:prstGeom prst="line">
            <a:avLst/>
          </a:prstGeom>
          <a:noFill/>
          <a:ln w="38100">
            <a:solidFill>
              <a:srgbClr val="B8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298448"/>
            <a:ext cx="11137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Over 80% of all cybersecurity incidents begin with a phishing email — not a sophisticated exploit.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84048" y="2176272"/>
            <a:ext cx="38221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2176272"/>
            <a:ext cx="0" cy="0"/>
          </a:xfrm>
          <a:prstGeom prst="line">
            <a:avLst/>
          </a:prstGeom>
          <a:noFill/>
          <a:ln w="31750">
            <a:solidFill>
              <a:srgbClr val="B8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34086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Phishing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566928" y="2834640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2020"/>
                </a:solidFill>
              </a:rPr>
              <a:t>80%+ of incidents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6928" y="356616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Most common entry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61688" y="2176272"/>
            <a:ext cx="38221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176272"/>
            <a:ext cx="0" cy="0"/>
          </a:xfrm>
          <a:prstGeom prst="line">
            <a:avLst/>
          </a:prstGeom>
          <a:noFill/>
          <a:ln w="31750">
            <a:solidFill>
              <a:srgbClr val="C55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4568" y="234086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Ransomware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544568" y="2834640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5A00"/>
                </a:solidFill>
              </a:rPr>
              <a:t>↑ 93% in 2021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544568" y="356616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Avg $812K demand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39328" y="2176272"/>
            <a:ext cx="38221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39328" y="2176272"/>
            <a:ext cx="0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22208" y="234086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Malware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522208" y="2834640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6FBF"/>
                </a:solidFill>
              </a:rPr>
              <a:t>94% of breaches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22208" y="356616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Trojans, RATs, worms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4187952"/>
            <a:ext cx="38221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4187952"/>
            <a:ext cx="0" cy="0"/>
          </a:xfrm>
          <a:prstGeom prst="line">
            <a:avLst/>
          </a:prstGeom>
          <a:noFill/>
          <a:ln w="31750">
            <a:solidFill>
              <a:srgbClr val="A8A8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35254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DDoS Attack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566928" y="4846320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A8A8"/>
                </a:solidFill>
              </a:rPr>
              <a:t>$218K / hour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566928" y="557784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Volumetric flood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61688" y="4187952"/>
            <a:ext cx="38221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1688" y="4187952"/>
            <a:ext cx="0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44568" y="435254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Insider Threat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44568" y="4846320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8A65"/>
                </a:solidFill>
              </a:rPr>
              <a:t>34% of all breaches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44568" y="557784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Malicious or careless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39328" y="4187952"/>
            <a:ext cx="3822192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39328" y="4187952"/>
            <a:ext cx="0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22208" y="4352544"/>
            <a:ext cx="3456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Man-in-Middle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8522208" y="4846320"/>
            <a:ext cx="34564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6B6B"/>
                </a:solidFill>
              </a:rPr>
              <a:t>Open network risk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522208" y="5577840"/>
            <a:ext cx="34564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ARP, SSL stripping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Attacker Techniques → Defensive Controls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1 — every attack move has a specific defensive answer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4048" y="12984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A8A8"/>
                </a:solidFill>
              </a:rPr>
              <a:t>ATTACK TECHNIQUE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10128" y="129844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A8A8"/>
                </a:solidFill>
              </a:rPr>
              <a:t>COMMAND USED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25312" y="1298448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A8A8"/>
                </a:solidFill>
              </a:rPr>
              <a:t>HOW TO DEFEND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4048" y="1609344"/>
            <a:ext cx="1139342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755648"/>
            <a:ext cx="11393424" cy="86868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755648"/>
            <a:ext cx="0" cy="0"/>
          </a:xfrm>
          <a:prstGeom prst="line">
            <a:avLst/>
          </a:prstGeom>
          <a:noFill/>
          <a:ln w="25400">
            <a:solidFill>
              <a:srgbClr val="B82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82880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Ping Sweep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10128" y="1828800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1828800"/>
            <a:ext cx="5833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2020"/>
                </a:solidFill>
              </a:rPr>
              <a:t>Block ICMP at the perimeter firewall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84048" y="2724912"/>
            <a:ext cx="11393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724912"/>
            <a:ext cx="0" cy="0"/>
          </a:xfrm>
          <a:prstGeom prst="line">
            <a:avLst/>
          </a:prstGeom>
          <a:noFill/>
          <a:ln w="25400">
            <a:solidFill>
              <a:srgbClr val="C5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98064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Port Scanning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10128" y="2798064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25312" y="2798064"/>
            <a:ext cx="5833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5A00"/>
                </a:solidFill>
              </a:rPr>
              <a:t>Close all ports you don't actively use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84048" y="3694176"/>
            <a:ext cx="11393424" cy="86868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694176"/>
            <a:ext cx="0" cy="0"/>
          </a:xfrm>
          <a:prstGeom prst="line">
            <a:avLst/>
          </a:prstGeom>
          <a:noFill/>
          <a:ln w="25400">
            <a:solidFill>
              <a:srgbClr val="1A6FB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76732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Service Detection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10128" y="3767328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-sV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25312" y="3767328"/>
            <a:ext cx="5833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FBF"/>
                </a:solidFill>
              </a:rPr>
              <a:t>Patch every service — remove known CVEs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4048" y="4663440"/>
            <a:ext cx="11393424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4663440"/>
            <a:ext cx="0" cy="0"/>
          </a:xfrm>
          <a:prstGeom prst="line">
            <a:avLst/>
          </a:prstGeom>
          <a:noFill/>
          <a:ln w="25400">
            <a:solidFill>
              <a:srgbClr val="5B3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36592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OS Fingerprinting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310128" y="473659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-O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25312" y="4736592"/>
            <a:ext cx="5833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3FA8"/>
                </a:solidFill>
              </a:rPr>
              <a:t>Normalize TCP/IP responses from all hosts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4048" y="5632704"/>
            <a:ext cx="11393424" cy="86868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5632704"/>
            <a:ext cx="0" cy="0"/>
          </a:xfrm>
          <a:prstGeom prst="line">
            <a:avLst/>
          </a:prstGeom>
          <a:noFill/>
          <a:ln w="25400">
            <a:solidFill>
              <a:srgbClr val="0A8A6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705856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Enumeration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0128" y="5705856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6F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enum4linux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925312" y="5705856"/>
            <a:ext cx="58338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8A65"/>
                </a:solidFill>
              </a:rPr>
              <a:t>Restrict SNMP, DNS zone transfers, NetBIOS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84048" y="6601968"/>
            <a:ext cx="11393424" cy="164592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6601968"/>
            <a:ext cx="111191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A8A8"/>
                </a:solidFill>
              </a:rPr>
              <a:t>Knowing the attack is the first step to closing 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The Incident Response Plan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2 — NIST SP 800-61 + SANS PICERL combined into 6 phases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18288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1828800" cy="54864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081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5E0"/>
                </a:solidFill>
              </a:rPr>
              <a:t>1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75488" y="2139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</a:rPr>
              <a:t>Preparation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" y="2743200"/>
            <a:ext cx="1371600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898648"/>
            <a:ext cx="1645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Tools, policies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&amp; team readiness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12848" y="2715768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5E0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368296" y="1298448"/>
            <a:ext cx="18288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68296" y="1298448"/>
            <a:ext cx="1828800" cy="54864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68296" y="14081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5E0"/>
                </a:solidFill>
              </a:rPr>
              <a:t>2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459736" y="2139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6FBF"/>
                </a:solidFill>
              </a:rPr>
              <a:t>Detection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96896" y="2743200"/>
            <a:ext cx="1371600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9736" y="2898648"/>
            <a:ext cx="1645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Classify severity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collect evidence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97096" y="2715768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5E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52544" y="1298448"/>
            <a:ext cx="18288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1298448"/>
            <a:ext cx="1828800" cy="54864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52544" y="14081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5E0"/>
                </a:solidFill>
              </a:rPr>
              <a:t>3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443984" y="2139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A8A65"/>
                </a:solidFill>
              </a:rPr>
              <a:t>Containment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81144" y="2743200"/>
            <a:ext cx="1371600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2898648"/>
            <a:ext cx="1645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Isolate systems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preserve evidence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81344" y="2715768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5E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36792" y="1298448"/>
            <a:ext cx="18288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36792" y="1298448"/>
            <a:ext cx="1828800" cy="54864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36792" y="14081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5E0"/>
                </a:solidFill>
              </a:rPr>
              <a:t>4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6428232" y="2139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55A00"/>
                </a:solidFill>
              </a:rPr>
              <a:t>Eradication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65392" y="2743200"/>
            <a:ext cx="1371600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2898648"/>
            <a:ext cx="1645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Remove malware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patch root cause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165592" y="2715768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5E0"/>
                </a:solidFill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321040" y="1298448"/>
            <a:ext cx="18288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1040" y="1298448"/>
            <a:ext cx="1828800" cy="54864"/>
          </a:xfrm>
          <a:prstGeom prst="rect">
            <a:avLst/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21040" y="14081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5E0"/>
                </a:solidFill>
              </a:rPr>
              <a:t>5</a:t>
            </a:r>
            <a:endParaRPr lang="en-US" sz="3800" dirty="0"/>
          </a:p>
        </p:txBody>
      </p:sp>
      <p:sp>
        <p:nvSpPr>
          <p:cNvPr id="39" name="Text 37"/>
          <p:cNvSpPr/>
          <p:nvPr/>
        </p:nvSpPr>
        <p:spPr>
          <a:xfrm>
            <a:off x="8412480" y="2139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6B3A"/>
                </a:solidFill>
              </a:rPr>
              <a:t>Recovery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549640" y="2743200"/>
            <a:ext cx="1371600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2898648"/>
            <a:ext cx="1645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Restore backup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verify integrity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149840" y="2715768"/>
            <a:ext cx="164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5E0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305288" y="1298448"/>
            <a:ext cx="1828800" cy="31272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305288" y="1298448"/>
            <a:ext cx="1828800" cy="54864"/>
          </a:xfrm>
          <a:prstGeom prst="rect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05288" y="1408176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8E5E0"/>
                </a:solidFill>
              </a:rPr>
              <a:t>6</a:t>
            </a:r>
            <a:endParaRPr lang="en-US" sz="3800" dirty="0"/>
          </a:p>
        </p:txBody>
      </p:sp>
      <p:sp>
        <p:nvSpPr>
          <p:cNvPr id="46" name="Text 44"/>
          <p:cNvSpPr/>
          <p:nvPr/>
        </p:nvSpPr>
        <p:spPr>
          <a:xfrm>
            <a:off x="10396728" y="2139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B3FA8"/>
                </a:solidFill>
              </a:rPr>
              <a:t>Lessons Learned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533888" y="2743200"/>
            <a:ext cx="1371600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396728" y="2898648"/>
            <a:ext cx="1645920" cy="1298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Review gaps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update IR Plan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84048" y="4645152"/>
            <a:ext cx="1139342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" y="473659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A8A8"/>
                </a:solidFill>
              </a:rPr>
              <a:t>SEVERITY CLASSIFICATION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84048" y="5138928"/>
            <a:ext cx="281635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84048" y="5138928"/>
            <a:ext cx="2816352" cy="0"/>
          </a:xfrm>
          <a:prstGeom prst="line">
            <a:avLst/>
          </a:prstGeom>
          <a:noFill/>
          <a:ln w="31750">
            <a:solidFill>
              <a:srgbClr val="B82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30352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2020"/>
                </a:solidFill>
              </a:rPr>
              <a:t>Critical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48640" y="5779008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2020"/>
                </a:solidFill>
              </a:rPr>
              <a:t>&lt; 1 hour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3355848" y="5138928"/>
            <a:ext cx="281635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55848" y="5138928"/>
            <a:ext cx="2816352" cy="0"/>
          </a:xfrm>
          <a:prstGeom prst="line">
            <a:avLst/>
          </a:prstGeom>
          <a:noFill/>
          <a:ln w="31750">
            <a:solidFill>
              <a:srgbClr val="C55A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530352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00"/>
                </a:solidFill>
              </a:rPr>
              <a:t>High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520440" y="5779008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55A00"/>
                </a:solidFill>
              </a:rPr>
              <a:t>&lt; 4 hours</a:t>
            </a:r>
            <a:endParaRPr lang="en-US" sz="2400" dirty="0"/>
          </a:p>
        </p:txBody>
      </p:sp>
      <p:sp>
        <p:nvSpPr>
          <p:cNvPr id="59" name="Shape 57"/>
          <p:cNvSpPr/>
          <p:nvPr/>
        </p:nvSpPr>
        <p:spPr>
          <a:xfrm>
            <a:off x="6327648" y="5138928"/>
            <a:ext cx="281635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7648" y="5138928"/>
            <a:ext cx="2816352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530352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FBF"/>
                </a:solidFill>
              </a:rPr>
              <a:t>Medium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492240" y="5779008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6FBF"/>
                </a:solidFill>
              </a:rPr>
              <a:t>&lt; 24 hours</a:t>
            </a:r>
            <a:endParaRPr lang="en-US" sz="2400" dirty="0"/>
          </a:p>
        </p:txBody>
      </p:sp>
      <p:sp>
        <p:nvSpPr>
          <p:cNvPr id="63" name="Shape 61"/>
          <p:cNvSpPr/>
          <p:nvPr/>
        </p:nvSpPr>
        <p:spPr>
          <a:xfrm>
            <a:off x="9299448" y="5138928"/>
            <a:ext cx="2816352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299448" y="5138928"/>
            <a:ext cx="2816352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4040" y="5303520"/>
            <a:ext cx="24871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8A65"/>
                </a:solidFill>
              </a:rPr>
              <a:t>Low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464040" y="5779008"/>
            <a:ext cx="248716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8A65"/>
                </a:solidFill>
              </a:rPr>
              <a:t>&lt; 72 hours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5-Zone Network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2 — Defense in Depth applied to network design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0" y="1261872"/>
            <a:ext cx="2103120" cy="566928"/>
          </a:xfrm>
          <a:prstGeom prst="ellipse">
            <a:avLst/>
          </a:prstGeom>
          <a:solidFill>
            <a:srgbClr val="A8A8A8">
              <a:alpha val="30000"/>
            </a:srgbClr>
          </a:solidFill>
          <a:ln w="6350">
            <a:solidFill>
              <a:srgbClr val="A8A8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61872"/>
            <a:ext cx="2103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INTERNET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80760" y="1828800"/>
            <a:ext cx="0" cy="0"/>
          </a:xfrm>
          <a:prstGeom prst="line">
            <a:avLst/>
          </a:prstGeom>
          <a:noFill/>
          <a:ln w="12700">
            <a:solidFill>
              <a:srgbClr val="A8A8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58768" y="2057400"/>
            <a:ext cx="4443984" cy="475488"/>
          </a:xfrm>
          <a:prstGeom prst="rect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58768" y="2057400"/>
            <a:ext cx="4443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PERIMETER FIREWALL  (Layer 1)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80760" y="2532888"/>
            <a:ext cx="0" cy="0"/>
          </a:xfrm>
          <a:prstGeom prst="line">
            <a:avLst/>
          </a:prstGeom>
          <a:noFill/>
          <a:ln w="12700">
            <a:solidFill>
              <a:srgbClr val="B820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16352" y="2788920"/>
            <a:ext cx="6528816" cy="548640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788920"/>
            <a:ext cx="65288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DMZ  —  Web Server  ·  DNS Server  (VLAN 20)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3337560"/>
            <a:ext cx="0" cy="0"/>
          </a:xfrm>
          <a:prstGeom prst="line">
            <a:avLst/>
          </a:prstGeom>
          <a:noFill/>
          <a:ln w="12700">
            <a:solidFill>
              <a:srgbClr val="C55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58768" y="3584448"/>
            <a:ext cx="4443984" cy="475488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3584448"/>
            <a:ext cx="44439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INTERNAL FIREWALL  +  WAF  +  IDS  (Layer 2)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01952" y="4059936"/>
            <a:ext cx="8357616" cy="0"/>
          </a:xfrm>
          <a:prstGeom prst="line">
            <a:avLst/>
          </a:prstGeom>
          <a:noFill/>
          <a:ln w="12700">
            <a:solidFill>
              <a:srgbClr val="1A6FB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1952" y="4059936"/>
            <a:ext cx="0" cy="0"/>
          </a:xfrm>
          <a:prstGeom prst="line">
            <a:avLst/>
          </a:prstGeom>
          <a:noFill/>
          <a:ln w="12700">
            <a:solidFill>
              <a:srgbClr val="1A6F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4059936"/>
            <a:ext cx="0" cy="0"/>
          </a:xfrm>
          <a:prstGeom prst="line">
            <a:avLst/>
          </a:prstGeom>
          <a:noFill/>
          <a:ln w="12700">
            <a:solidFill>
              <a:srgbClr val="1A6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59568" y="4059936"/>
            <a:ext cx="0" cy="0"/>
          </a:xfrm>
          <a:prstGeom prst="line">
            <a:avLst/>
          </a:prstGeom>
          <a:noFill/>
          <a:ln w="12700">
            <a:solidFill>
              <a:srgbClr val="1A6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4480560"/>
            <a:ext cx="27432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480560"/>
            <a:ext cx="2743200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" y="4590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User LAN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" y="50109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8A65"/>
                </a:solidFill>
              </a:rPr>
              <a:t>VLAN 10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50392" y="53218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Employee workstations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Low trust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4480560"/>
            <a:ext cx="27432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92040" y="4480560"/>
            <a:ext cx="2743200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4590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Server Zone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029200" y="50109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6FBF"/>
                </a:solidFill>
              </a:rPr>
              <a:t>VLAN 30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29200" y="53218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App · DB · File servers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Medium trust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070848" y="4480560"/>
            <a:ext cx="2743200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70848" y="4480560"/>
            <a:ext cx="2743200" cy="0"/>
          </a:xfrm>
          <a:prstGeom prst="line">
            <a:avLst/>
          </a:prstGeom>
          <a:noFill/>
          <a:ln w="31750">
            <a:solidFill>
              <a:srgbClr val="5B3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08008" y="459028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Mgmt Zone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208008" y="501091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3FA8"/>
                </a:solidFill>
              </a:rPr>
              <a:t>VLAN 99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5321808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SIEM · Admin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Highest trust  MFA+VPN only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4048" y="6784848"/>
            <a:ext cx="11393424" cy="0"/>
          </a:xfrm>
          <a:prstGeom prst="line">
            <a:avLst/>
          </a:prstGeom>
          <a:noFill/>
          <a:ln w="5080">
            <a:solidFill>
              <a:srgbClr val="E8E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" y="6812280"/>
            <a:ext cx="113934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6B"/>
                </a:solidFill>
              </a:rPr>
              <a:t>Critical: database is reachable only from the app server — not from workstations, not from the DMZ.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The Attack — Operation Locked Vault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3 — 8 stages, 6 hours, phishing to ransomware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02920" y="3493008"/>
            <a:ext cx="11155680" cy="0"/>
          </a:xfrm>
          <a:prstGeom prst="line">
            <a:avLst/>
          </a:prstGeom>
          <a:noFill/>
          <a:ln w="190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" y="3401568"/>
            <a:ext cx="201168" cy="201168"/>
          </a:xfrm>
          <a:prstGeom prst="ellipse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70432" y="2286000"/>
            <a:ext cx="0" cy="0"/>
          </a:xfrm>
          <a:prstGeom prst="line">
            <a:avLst/>
          </a:prstGeom>
          <a:noFill/>
          <a:ln w="10160">
            <a:solidFill>
              <a:srgbClr val="B82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" y="1170432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1170432"/>
            <a:ext cx="1426464" cy="0"/>
          </a:xfrm>
          <a:prstGeom prst="line">
            <a:avLst/>
          </a:prstGeom>
          <a:noFill/>
          <a:ln w="25400">
            <a:solidFill>
              <a:srgbClr val="B82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" y="12618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020"/>
                </a:solidFill>
              </a:rPr>
              <a:t>Phishing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2020"/>
                </a:solidFill>
              </a:rPr>
              <a:t>Email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" y="8229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09:14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60904" y="3401568"/>
            <a:ext cx="201168" cy="201168"/>
          </a:xfrm>
          <a:prstGeom prst="ellipse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1488" y="3602736"/>
            <a:ext cx="0" cy="0"/>
          </a:xfrm>
          <a:prstGeom prst="line">
            <a:avLst/>
          </a:prstGeom>
          <a:noFill/>
          <a:ln w="10160">
            <a:solidFill>
              <a:srgbClr val="C55A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67128" y="4023360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67128" y="4023360"/>
            <a:ext cx="1426464" cy="0"/>
          </a:xfrm>
          <a:prstGeom prst="line">
            <a:avLst/>
          </a:prstGeom>
          <a:noFill/>
          <a:ln w="25400">
            <a:solidFill>
              <a:srgbClr val="C5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67128" y="411480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5A00"/>
                </a:solidFill>
              </a:rPr>
              <a:t>RAT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55A00"/>
                </a:solidFill>
              </a:rPr>
              <a:t>Installed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67128" y="523036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09:31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3401568"/>
            <a:ext cx="201168" cy="201168"/>
          </a:xfrm>
          <a:prstGeom prst="ellipse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52544" y="2286000"/>
            <a:ext cx="0" cy="0"/>
          </a:xfrm>
          <a:prstGeom prst="line">
            <a:avLst/>
          </a:prstGeom>
          <a:noFill/>
          <a:ln w="10160">
            <a:solidFill>
              <a:srgbClr val="1A6F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58184" y="1170432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58184" y="1170432"/>
            <a:ext cx="1426464" cy="0"/>
          </a:xfrm>
          <a:prstGeom prst="line">
            <a:avLst/>
          </a:prstGeom>
          <a:noFill/>
          <a:ln w="25400">
            <a:solidFill>
              <a:srgbClr val="1A6FB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2618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6FBF"/>
                </a:solidFill>
              </a:rPr>
              <a:t>Network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6FBF"/>
                </a:solidFill>
              </a:rPr>
              <a:t>Recon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58184" y="8229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10:05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43016" y="3401568"/>
            <a:ext cx="201168" cy="201168"/>
          </a:xfrm>
          <a:prstGeom prst="ellipse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602736"/>
            <a:ext cx="0" cy="0"/>
          </a:xfrm>
          <a:prstGeom prst="line">
            <a:avLst/>
          </a:prstGeom>
          <a:noFill/>
          <a:ln w="10160">
            <a:solidFill>
              <a:srgbClr val="5B3FA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49240" y="4023360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4023360"/>
            <a:ext cx="1426464" cy="0"/>
          </a:xfrm>
          <a:prstGeom prst="line">
            <a:avLst/>
          </a:prstGeom>
          <a:noFill/>
          <a:ln w="25400">
            <a:solidFill>
              <a:srgbClr val="5B3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411480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FA8"/>
                </a:solidFill>
              </a:rPr>
              <a:t>Privilege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3FA8"/>
                </a:solidFill>
              </a:rPr>
              <a:t>Escalate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523036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11:22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434072" y="3401568"/>
            <a:ext cx="201168" cy="201168"/>
          </a:xfrm>
          <a:prstGeom prst="ellipse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34656" y="2286000"/>
            <a:ext cx="0" cy="0"/>
          </a:xfrm>
          <a:prstGeom prst="line">
            <a:avLst/>
          </a:prstGeom>
          <a:noFill/>
          <a:ln w="10160">
            <a:solidFill>
              <a:srgbClr val="C55A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0296" y="1170432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40296" y="1170432"/>
            <a:ext cx="1426464" cy="0"/>
          </a:xfrm>
          <a:prstGeom prst="line">
            <a:avLst/>
          </a:prstGeom>
          <a:noFill/>
          <a:ln w="25400">
            <a:solidFill>
              <a:srgbClr val="C55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0296" y="12618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5A00"/>
                </a:solidFill>
              </a:rPr>
              <a:t>Lateral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55A00"/>
                </a:solidFill>
              </a:rPr>
              <a:t>Movement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0296" y="8229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12:47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025128" y="3401568"/>
            <a:ext cx="201168" cy="201168"/>
          </a:xfrm>
          <a:prstGeom prst="ellipse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25712" y="3602736"/>
            <a:ext cx="0" cy="0"/>
          </a:xfrm>
          <a:prstGeom prst="line">
            <a:avLst/>
          </a:prstGeom>
          <a:noFill/>
          <a:ln w="10160">
            <a:solidFill>
              <a:srgbClr val="B82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31352" y="4023360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531352" y="4023360"/>
            <a:ext cx="1426464" cy="0"/>
          </a:xfrm>
          <a:prstGeom prst="line">
            <a:avLst/>
          </a:prstGeom>
          <a:noFill/>
          <a:ln w="25400">
            <a:solidFill>
              <a:srgbClr val="B82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531352" y="411480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020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2020"/>
                </a:solidFill>
              </a:rPr>
              <a:t>Exfiltrated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31352" y="523036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14:10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0616184" y="3401568"/>
            <a:ext cx="201168" cy="201168"/>
          </a:xfrm>
          <a:prstGeom prst="ellipse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16768" y="2286000"/>
            <a:ext cx="0" cy="0"/>
          </a:xfrm>
          <a:prstGeom prst="line">
            <a:avLst/>
          </a:prstGeom>
          <a:noFill/>
          <a:ln w="10160">
            <a:solidFill>
              <a:srgbClr val="B820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22408" y="1170432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22408" y="1170432"/>
            <a:ext cx="1426464" cy="0"/>
          </a:xfrm>
          <a:prstGeom prst="line">
            <a:avLst/>
          </a:prstGeom>
          <a:noFill/>
          <a:ln w="25400">
            <a:solidFill>
              <a:srgbClr val="B82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22408" y="1261872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2020"/>
                </a:solidFill>
              </a:rPr>
              <a:t>Ransomware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B82020"/>
                </a:solidFill>
              </a:rPr>
              <a:t>Deploys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122408" y="822960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15:33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207240" y="3401568"/>
            <a:ext cx="201168" cy="201168"/>
          </a:xfrm>
          <a:prstGeom prst="ellipse">
            <a:avLst/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307824" y="3602736"/>
            <a:ext cx="0" cy="0"/>
          </a:xfrm>
          <a:prstGeom prst="line">
            <a:avLst/>
          </a:prstGeom>
          <a:noFill/>
          <a:ln w="10160">
            <a:solidFill>
              <a:srgbClr val="0F6B3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713464" y="4023360"/>
            <a:ext cx="1426464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713464" y="4023360"/>
            <a:ext cx="1426464" cy="0"/>
          </a:xfrm>
          <a:prstGeom prst="line">
            <a:avLst/>
          </a:prstGeom>
          <a:noFill/>
          <a:ln w="25400">
            <a:solidFill>
              <a:srgbClr val="0F6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1713464" y="4114800"/>
            <a:ext cx="14264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6B3A"/>
                </a:solidFill>
              </a:rPr>
              <a:t>Detected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F6B3A"/>
                </a:solidFill>
              </a:rPr>
              <a:t>🚨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713464" y="523036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8A8"/>
                </a:solidFill>
              </a:rPr>
              <a:t>15:41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84048" y="5596128"/>
            <a:ext cx="1139342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4048" y="5687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A8A8A8"/>
                </a:solidFill>
              </a:rPr>
              <a:t>IMPACT SUMMARY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84048" y="601675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82020"/>
                </a:solidFill>
              </a:rPr>
              <a:t>2.3 GB stolen</a:t>
            </a:r>
            <a:endParaRPr lang="en-US" sz="1250" dirty="0"/>
          </a:p>
        </p:txBody>
      </p:sp>
      <p:sp>
        <p:nvSpPr>
          <p:cNvPr id="60" name="Text 58"/>
          <p:cNvSpPr/>
          <p:nvPr/>
        </p:nvSpPr>
        <p:spPr>
          <a:xfrm>
            <a:off x="384048" y="638251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</a:rPr>
              <a:t>before detection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355848" y="601675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55A00"/>
                </a:solidFill>
              </a:rPr>
              <a:t>CVE-2021-34527</a:t>
            </a:r>
            <a:endParaRPr lang="en-US" sz="1250" dirty="0"/>
          </a:p>
        </p:txBody>
      </p:sp>
      <p:sp>
        <p:nvSpPr>
          <p:cNvPr id="62" name="Text 60"/>
          <p:cNvSpPr/>
          <p:nvPr/>
        </p:nvSpPr>
        <p:spPr>
          <a:xfrm>
            <a:off x="3355848" y="638251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</a:rPr>
              <a:t>PrintNightmare — unpatched 6 months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327648" y="601675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6FBF"/>
                </a:solidFill>
              </a:rPr>
              <a:t>3 of 50 systems</a:t>
            </a:r>
            <a:endParaRPr lang="en-US" sz="1250" dirty="0"/>
          </a:p>
        </p:txBody>
      </p:sp>
      <p:sp>
        <p:nvSpPr>
          <p:cNvPr id="64" name="Text 62"/>
          <p:cNvSpPr/>
          <p:nvPr/>
        </p:nvSpPr>
        <p:spPr>
          <a:xfrm>
            <a:off x="6327648" y="638251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</a:rPr>
              <a:t>compromised (segmentation limited damage)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9299448" y="6016752"/>
            <a:ext cx="28163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6B3A"/>
                </a:solidFill>
              </a:rPr>
              <a:t>$50,000 ransom</a:t>
            </a:r>
            <a:endParaRPr lang="en-US" sz="1250" dirty="0"/>
          </a:p>
        </p:txBody>
      </p:sp>
      <p:sp>
        <p:nvSpPr>
          <p:cNvPr id="66" name="Text 64"/>
          <p:cNvSpPr/>
          <p:nvPr/>
        </p:nvSpPr>
        <p:spPr>
          <a:xfrm>
            <a:off x="9299448" y="638251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A8A8"/>
                </a:solidFill>
              </a:rPr>
              <a:t>demanded — never paid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The IR Plan in 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3 — response performance against every target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1139342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0" cy="0"/>
          </a:xfrm>
          <a:prstGeom prst="line">
            <a:avLst/>
          </a:prstGeom>
          <a:noFill/>
          <a:ln w="38100">
            <a:solidFill>
              <a:srgbClr val="1A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0817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184708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6FBF"/>
                </a:solidFill>
              </a:rPr>
              <a:t>8 min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697480" y="1554480"/>
            <a:ext cx="1572768" cy="62179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15544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</a:rPr>
              <a:t>Target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697480" y="182880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6FBF"/>
                </a:solidFill>
              </a:rPr>
              <a:t>&lt; 15 min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07408" y="1554480"/>
            <a:ext cx="1024128" cy="621792"/>
          </a:xfrm>
          <a:prstGeom prst="rect">
            <a:avLst/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07408" y="1554480"/>
            <a:ext cx="10241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MET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596128" y="1481328"/>
            <a:ext cx="6291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SIEM flagged unusual outbound traffic — employee confirmed encrypted files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84048" y="2596896"/>
            <a:ext cx="1139342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596896"/>
            <a:ext cx="0" cy="0"/>
          </a:xfrm>
          <a:prstGeom prst="line">
            <a:avLst/>
          </a:prstGeom>
          <a:noFill/>
          <a:ln w="38100">
            <a:solidFill>
              <a:srgbClr val="0A8A6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066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Containment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145536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8A65"/>
                </a:solidFill>
              </a:rPr>
              <a:t>32 min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2697480" y="2852928"/>
            <a:ext cx="1572768" cy="62179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285292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</a:rPr>
              <a:t>Target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97480" y="31272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8A65"/>
                </a:solidFill>
              </a:rPr>
              <a:t>&lt; 60 min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407408" y="2852928"/>
            <a:ext cx="1024128" cy="621792"/>
          </a:xfrm>
          <a:prstGeom prst="rect">
            <a:avLst/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07408" y="2852928"/>
            <a:ext cx="10241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MET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596128" y="2779776"/>
            <a:ext cx="6291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2 systems isolated  ·  C2 blocked at firewall  ·  Account disabled  ·  Evidence captured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895344"/>
            <a:ext cx="1139342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895344"/>
            <a:ext cx="0" cy="0"/>
          </a:xfrm>
          <a:prstGeom prst="line">
            <a:avLst/>
          </a:prstGeom>
          <a:noFill/>
          <a:ln w="38100">
            <a:solidFill>
              <a:srgbClr val="C55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0050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Eradication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443984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5A00"/>
                </a:solidFill>
              </a:rPr>
              <a:t>1h 45m</a:t>
            </a:r>
            <a:endParaRPr lang="en-US" sz="2800" dirty="0"/>
          </a:p>
        </p:txBody>
      </p:sp>
      <p:sp>
        <p:nvSpPr>
          <p:cNvPr id="32" name="Shape 30"/>
          <p:cNvSpPr/>
          <p:nvPr/>
        </p:nvSpPr>
        <p:spPr>
          <a:xfrm>
            <a:off x="2697480" y="4151376"/>
            <a:ext cx="1572768" cy="62179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97480" y="4151376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</a:rPr>
              <a:t>Target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97480" y="4425696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5A00"/>
                </a:solidFill>
              </a:rPr>
              <a:t>&lt; 4 hrs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407408" y="4151376"/>
            <a:ext cx="1024128" cy="621792"/>
          </a:xfrm>
          <a:prstGeom prst="rect">
            <a:avLst/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07408" y="4151376"/>
            <a:ext cx="10241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MET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596128" y="4078224"/>
            <a:ext cx="6291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RAT removed from 2 workstations  ·  PrintNightmare patched  ·  All credentials reset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84048" y="5193792"/>
            <a:ext cx="11393424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84048" y="5193792"/>
            <a:ext cx="0" cy="0"/>
          </a:xfrm>
          <a:prstGeom prst="line">
            <a:avLst/>
          </a:prstGeom>
          <a:noFill/>
          <a:ln w="38100">
            <a:solidFill>
              <a:srgbClr val="5B3FA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303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Recovery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94360" y="5742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B3FA8"/>
                </a:solidFill>
              </a:rPr>
              <a:t>1h 15m</a:t>
            </a:r>
            <a:endParaRPr lang="en-US" sz="2800" dirty="0"/>
          </a:p>
        </p:txBody>
      </p:sp>
      <p:sp>
        <p:nvSpPr>
          <p:cNvPr id="42" name="Shape 40"/>
          <p:cNvSpPr/>
          <p:nvPr/>
        </p:nvSpPr>
        <p:spPr>
          <a:xfrm>
            <a:off x="2697480" y="5449824"/>
            <a:ext cx="1572768" cy="62179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97480" y="5449824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8A8A8"/>
                </a:solidFill>
              </a:rPr>
              <a:t>Target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697480" y="5724144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3FA8"/>
                </a:solidFill>
              </a:rPr>
              <a:t>&lt; 4 hrs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407408" y="5449824"/>
            <a:ext cx="1024128" cy="621792"/>
          </a:xfrm>
          <a:prstGeom prst="rect">
            <a:avLst/>
          </a:prstGeom>
          <a:solidFill>
            <a:srgbClr val="0F6B3A"/>
          </a:solidFill>
          <a:ln w="12700">
            <a:solidFill>
              <a:srgbClr val="0F6B3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07408" y="5449824"/>
            <a:ext cx="102412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✅  MET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596128" y="5376672"/>
            <a:ext cx="62910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File server restored from verified backup  ·  Integrity confirmed  ·  Enhanced monitoring active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84048" y="6537960"/>
            <a:ext cx="11393424" cy="201168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Total: 3 hrs 30 min  ·  All 4 targets met  ·  $0 ransom paid  ·  100% systems restored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Simulation Results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Week 3 — the numbers that came out of our tabletop exercise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382219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3822192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463040"/>
            <a:ext cx="3822192" cy="1327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6FBF"/>
                </a:solidFill>
              </a:rPr>
              <a:t>8 min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84048" y="2847442"/>
            <a:ext cx="3822192" cy="66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Detection time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61688" y="1298448"/>
            <a:ext cx="382219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1298448"/>
            <a:ext cx="3822192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61688" y="1463040"/>
            <a:ext cx="3822192" cy="1327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8A65"/>
                </a:solidFill>
              </a:rPr>
              <a:t>32 min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361688" y="2847442"/>
            <a:ext cx="3822192" cy="66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Containment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339328" y="1298448"/>
            <a:ext cx="382219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9328" y="1298448"/>
            <a:ext cx="3822192" cy="0"/>
          </a:xfrm>
          <a:prstGeom prst="line">
            <a:avLst/>
          </a:prstGeom>
          <a:noFill/>
          <a:ln w="31750">
            <a:solidFill>
              <a:srgbClr val="0F6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9328" y="1463040"/>
            <a:ext cx="3822192" cy="1327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6B3A"/>
                </a:solidFill>
              </a:rPr>
              <a:t>3.5 hrs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339328" y="2847442"/>
            <a:ext cx="3822192" cy="66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Full recovery time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84048" y="3694176"/>
            <a:ext cx="382219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694176"/>
            <a:ext cx="3822192" cy="0"/>
          </a:xfrm>
          <a:prstGeom prst="line">
            <a:avLst/>
          </a:prstGeom>
          <a:noFill/>
          <a:ln w="31750">
            <a:solidFill>
              <a:srgbClr val="B820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58768"/>
            <a:ext cx="3822192" cy="1327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82020"/>
                </a:solidFill>
              </a:rPr>
              <a:t>$0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384048" y="5243170"/>
            <a:ext cx="3822192" cy="66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Ransom paid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61688" y="3694176"/>
            <a:ext cx="382219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1688" y="3694176"/>
            <a:ext cx="3822192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61688" y="3858768"/>
            <a:ext cx="3822192" cy="1327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8A65"/>
                </a:solidFill>
              </a:rPr>
              <a:t>100%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4361688" y="5243170"/>
            <a:ext cx="3822192" cy="66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Systems restored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339328" y="3694176"/>
            <a:ext cx="3822192" cy="2212848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39328" y="3694176"/>
            <a:ext cx="3822192" cy="0"/>
          </a:xfrm>
          <a:prstGeom prst="line">
            <a:avLst/>
          </a:prstGeom>
          <a:noFill/>
          <a:ln w="31750">
            <a:solidFill>
              <a:srgbClr val="5B3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3858768"/>
            <a:ext cx="3822192" cy="1327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3FA8"/>
                </a:solidFill>
              </a:rPr>
              <a:t>7 / 7</a:t>
            </a:r>
            <a:endParaRPr lang="en-US" sz="4400" dirty="0"/>
          </a:p>
        </p:txBody>
      </p:sp>
      <p:sp>
        <p:nvSpPr>
          <p:cNvPr id="31" name="Text 29"/>
          <p:cNvSpPr/>
          <p:nvPr/>
        </p:nvSpPr>
        <p:spPr>
          <a:xfrm>
            <a:off x="8339328" y="5243170"/>
            <a:ext cx="3822192" cy="6638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MITRE ATT&amp;CK techniques identified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What the Simulation Revealed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6 security gaps found — each with a clear fix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FINDINGS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11393424" cy="777240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0" cy="0"/>
          </a:xfrm>
          <a:prstGeom prst="line">
            <a:avLst/>
          </a:prstGeom>
          <a:noFill/>
          <a:ln w="38100">
            <a:solidFill>
              <a:srgbClr val="B8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1298448"/>
            <a:ext cx="111373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2020"/>
                </a:solidFill>
              </a:rPr>
              <a:t>Most critical: No MFA on VPN. The attacker entered the entire network with only a stolen password.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82020"/>
                </a:solidFill>
              </a:rPr>
              <a:t>One authentication code would have stopped everything at Stage 2.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84048" y="2240280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A8A8"/>
                </a:solidFill>
              </a:rPr>
              <a:t>PRIORITY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64208" y="224028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A8A8"/>
                </a:solidFill>
              </a:rPr>
              <a:t>SECURITY GAP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84064" y="224028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A8A8"/>
                </a:solidFill>
              </a:rPr>
              <a:t>IMPACT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13648" y="2240280"/>
            <a:ext cx="3310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20" kern="0" dirty="0">
                <a:solidFill>
                  <a:srgbClr val="A8A8A8"/>
                </a:solidFill>
              </a:rPr>
              <a:t>FIX REQUIRED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4048" y="2523744"/>
            <a:ext cx="1139342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670048"/>
            <a:ext cx="11393424" cy="59436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670048"/>
            <a:ext cx="0" cy="0"/>
          </a:xfrm>
          <a:prstGeom prst="line">
            <a:avLst/>
          </a:prstGeom>
          <a:noFill/>
          <a:ln w="25400">
            <a:solidFill>
              <a:srgbClr val="B82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7432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82020"/>
                </a:solidFill>
              </a:rPr>
              <a:t>CRITICAL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64208" y="274320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No MFA on VPN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84064" y="274320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020"/>
                </a:solidFill>
              </a:rPr>
              <a:t>Full network access — stolen password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13648" y="274320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A"/>
                </a:solidFill>
              </a:rPr>
              <a:t>Enforce MFA immediately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84048" y="3328416"/>
            <a:ext cx="113934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328416"/>
            <a:ext cx="0" cy="0"/>
          </a:xfrm>
          <a:prstGeom prst="line">
            <a:avLst/>
          </a:prstGeom>
          <a:noFill/>
          <a:ln w="25400">
            <a:solidFill>
              <a:srgbClr val="C55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0156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5A00"/>
                </a:solidFill>
              </a:rPr>
              <a:t>HIGH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64208" y="3401568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PrintNightmare unpatched 6 months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84064" y="3401568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020"/>
                </a:solidFill>
              </a:rPr>
              <a:t>Privilege escalation to SYSTEM level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613648" y="3401568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A"/>
                </a:solidFill>
              </a:rPr>
              <a:t>48-hour critical patch SLA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84048" y="3986784"/>
            <a:ext cx="11393424" cy="59436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986784"/>
            <a:ext cx="0" cy="0"/>
          </a:xfrm>
          <a:prstGeom prst="line">
            <a:avLst/>
          </a:prstGeom>
          <a:noFill/>
          <a:ln w="25400">
            <a:solidFill>
              <a:srgbClr val="C55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05993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5A00"/>
                </a:solidFill>
              </a:rPr>
              <a:t>HIGH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64208" y="405993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No DLP solution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84064" y="4059936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020"/>
                </a:solidFill>
              </a:rPr>
              <a:t>2.3 GB exfiltrated — completely silent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13648" y="4059936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A"/>
                </a:solidFill>
              </a:rPr>
              <a:t>Deploy Data Loss Prevention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84048" y="4645152"/>
            <a:ext cx="113934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048" y="4645152"/>
            <a:ext cx="0" cy="0"/>
          </a:xfrm>
          <a:prstGeom prst="line">
            <a:avLst/>
          </a:prstGeom>
          <a:noFill/>
          <a:ln w="25400">
            <a:solidFill>
              <a:srgbClr val="C55A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71830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5A00"/>
                </a:solidFill>
              </a:rPr>
              <a:t>HIGH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664208" y="4718304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No email filtering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084064" y="4718304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020"/>
                </a:solidFill>
              </a:rPr>
              <a:t>Phishing email reached the employee inbox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13648" y="4718304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A"/>
                </a:solidFill>
              </a:rPr>
              <a:t>Defender for Office 365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84048" y="5303520"/>
            <a:ext cx="11393424" cy="594360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4048" y="5303520"/>
            <a:ext cx="0" cy="0"/>
          </a:xfrm>
          <a:prstGeom prst="line">
            <a:avLst/>
          </a:prstGeom>
          <a:noFill/>
          <a:ln w="25400">
            <a:solidFill>
              <a:srgbClr val="1A6FB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537667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FBF"/>
                </a:solidFill>
              </a:rPr>
              <a:t>MEDIUM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1664208" y="5376672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No EDR on all endpoints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84064" y="5376672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020"/>
                </a:solidFill>
              </a:rPr>
              <a:t>2nd infected host found 85 min late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613648" y="5376672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A"/>
                </a:solidFill>
              </a:rPr>
              <a:t>Roll out EDR to 200 hosts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84048" y="5961888"/>
            <a:ext cx="113934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84048" y="5961888"/>
            <a:ext cx="0" cy="0"/>
          </a:xfrm>
          <a:prstGeom prst="line">
            <a:avLst/>
          </a:prstGeom>
          <a:noFill/>
          <a:ln w="25400">
            <a:solidFill>
              <a:srgbClr val="0A8A6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60350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8A65"/>
                </a:solidFill>
              </a:rPr>
              <a:t>MEDIUM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664208" y="603504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Daily backups only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084064" y="6035040"/>
            <a:ext cx="3337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2020"/>
                </a:solidFill>
              </a:rPr>
              <a:t>Lost same-day file activity on breach day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613648" y="603504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6B3A"/>
                </a:solidFill>
              </a:rPr>
              <a:t>Move to hourly incremental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01168"/>
            <a:ext cx="11384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</a:rPr>
              <a:t>6 Recommendations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84048" y="786384"/>
            <a:ext cx="11384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B6B"/>
                </a:solidFill>
              </a:rPr>
              <a:t>Priority-ordered — if you do only one thing, do number 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84048" y="1133856"/>
            <a:ext cx="113842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0" y="182880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</a:rPr>
              <a:t>WEEK 4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1298448"/>
            <a:ext cx="11393424" cy="777240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1298448"/>
            <a:ext cx="0" cy="0"/>
          </a:xfrm>
          <a:prstGeom prst="line">
            <a:avLst/>
          </a:prstGeom>
          <a:noFill/>
          <a:ln w="38100">
            <a:solidFill>
              <a:srgbClr val="B82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35331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5E0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25880" y="1499616"/>
            <a:ext cx="1188720" cy="347472"/>
          </a:xfrm>
          <a:prstGeom prst="rect">
            <a:avLst/>
          </a:prstGeom>
          <a:solidFill>
            <a:srgbClr val="B82020"/>
          </a:solidFill>
          <a:ln w="12700">
            <a:solidFill>
              <a:srgbClr val="B82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25880" y="149961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CRITICAL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70048" y="1353312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Enforce MFA on VPN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670048" y="173736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One authentication code stops this attack at Stage 2. Highest impact, lowest cost.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4048" y="2194560"/>
            <a:ext cx="1139342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194560"/>
            <a:ext cx="0" cy="0"/>
          </a:xfrm>
          <a:prstGeom prst="line">
            <a:avLst/>
          </a:prstGeom>
          <a:noFill/>
          <a:ln w="38100">
            <a:solidFill>
              <a:srgbClr val="C55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224942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5E0"/>
                </a:solidFill>
              </a:rPr>
              <a:t>02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325880" y="2395728"/>
            <a:ext cx="1188720" cy="347472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23957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670048" y="2249424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48-Hour Critical Patch SLA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670048" y="263347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PrintNightmare was already patched by Microsoft. It just wasn't applied for 6 months.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3090672"/>
            <a:ext cx="11393424" cy="777240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090672"/>
            <a:ext cx="0" cy="0"/>
          </a:xfrm>
          <a:prstGeom prst="line">
            <a:avLst/>
          </a:prstGeom>
          <a:noFill/>
          <a:ln w="38100">
            <a:solidFill>
              <a:srgbClr val="C55A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14553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5E0"/>
                </a:solidFill>
              </a:rPr>
              <a:t>03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1325880" y="3291840"/>
            <a:ext cx="1188720" cy="347472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329184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70048" y="3145536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Deploy DLP Solution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2670048" y="352958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2.3GB of sensitive data left the network undetected. DLP would have caught it in minutes.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3986784"/>
            <a:ext cx="1139342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986784"/>
            <a:ext cx="0" cy="0"/>
          </a:xfrm>
          <a:prstGeom prst="line">
            <a:avLst/>
          </a:prstGeom>
          <a:noFill/>
          <a:ln w="38100">
            <a:solidFill>
              <a:srgbClr val="C55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04164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5E0"/>
                </a:solidFill>
              </a:rPr>
              <a:t>04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1325880" y="4187952"/>
            <a:ext cx="1188720" cy="347472"/>
          </a:xfrm>
          <a:prstGeom prst="rect">
            <a:avLst/>
          </a:prstGeom>
          <a:solidFill>
            <a:srgbClr val="C55A00"/>
          </a:solidFill>
          <a:ln w="12700">
            <a:solidFill>
              <a:srgbClr val="C55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25880" y="4187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670048" y="4041648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Advanced Email Filtering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2670048" y="442569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Block phishing at delivery, before it reaches any employee's inbox.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4882896"/>
            <a:ext cx="11393424" cy="777240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4048" y="4882896"/>
            <a:ext cx="0" cy="0"/>
          </a:xfrm>
          <a:prstGeom prst="line">
            <a:avLst/>
          </a:prstGeom>
          <a:noFill/>
          <a:ln w="38100">
            <a:solidFill>
              <a:srgbClr val="1A6F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" y="4937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5E0"/>
                </a:solidFill>
              </a:rPr>
              <a:t>05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1325880" y="5084064"/>
            <a:ext cx="1188720" cy="347472"/>
          </a:xfrm>
          <a:prstGeom prst="rect">
            <a:avLst/>
          </a:prstGeom>
          <a:solidFill>
            <a:srgbClr val="1A6FBF"/>
          </a:solidFill>
          <a:ln w="12700">
            <a:solidFill>
              <a:srgbClr val="1A6F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25880" y="50840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670048" y="4937760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EDR on All 200 Endpoints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2670048" y="532180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Full visibility across every machine. Found the second infected host 85 minutes late.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84048" y="5779008"/>
            <a:ext cx="11393424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" y="5779008"/>
            <a:ext cx="0" cy="0"/>
          </a:xfrm>
          <a:prstGeom prst="line">
            <a:avLst/>
          </a:prstGeom>
          <a:noFill/>
          <a:ln w="38100">
            <a:solidFill>
              <a:srgbClr val="0A8A6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0352" y="583387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5E0"/>
                </a:solidFill>
              </a:rPr>
              <a:t>06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1325880" y="5980176"/>
            <a:ext cx="1188720" cy="347472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25880" y="59801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670048" y="5833872"/>
            <a:ext cx="3950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</a:rPr>
              <a:t>Hourly Incremental Backups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2670048" y="621792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</a:rPr>
              <a:t>Reduces maximum data loss window from 24 hours to under 1 hour.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A8A65"/>
          </a:solidFill>
          <a:ln w="12700">
            <a:solidFill>
              <a:srgbClr val="0A8A6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11338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</a:rPr>
              <a:t>Conclusion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11338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</a:rPr>
              <a:t>The most important lesson from 4 weeks of work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1133856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508760"/>
            <a:ext cx="3767328" cy="40050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508760"/>
            <a:ext cx="3767328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09928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76072" y="2532888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6FBF"/>
                </a:solidFill>
              </a:rPr>
              <a:t>People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" y="3108960"/>
            <a:ext cx="343814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3291840"/>
            <a:ext cx="34381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Training and awareness. One click caused this entire incident. Phishing bypasses all technical controls — it targets humans.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61688" y="1508760"/>
            <a:ext cx="3767328" cy="40050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508760"/>
            <a:ext cx="3767328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709928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⚙️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26280" y="2532888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8A65"/>
                </a:solidFill>
              </a:rPr>
              <a:t>Process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26280" y="3108960"/>
            <a:ext cx="343814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26280" y="3291840"/>
            <a:ext cx="34381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MFA wasn't deployed. The patch wasn't applied. Technology only works when process enforces it. Good tools need good discipline.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11896" y="1508760"/>
            <a:ext cx="3767328" cy="40050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1896" y="1508760"/>
            <a:ext cx="3767328" cy="0"/>
          </a:xfrm>
          <a:prstGeom prst="line">
            <a:avLst/>
          </a:prstGeom>
          <a:noFill/>
          <a:ln w="31750">
            <a:solidFill>
              <a:srgbClr val="C55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11896" y="1709928"/>
            <a:ext cx="37673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476488" y="2532888"/>
            <a:ext cx="34381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00"/>
                </a:solidFill>
              </a:rPr>
              <a:t>Technology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476488" y="3108960"/>
            <a:ext cx="3438144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3291840"/>
            <a:ext cx="3438144" cy="20848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</a:rPr>
              <a:t>The architecture worked. Segmentation limited the attack to 3 of 50 systems. Deploy more controls — and keep them current.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5715000"/>
            <a:ext cx="11338560" cy="932688"/>
          </a:xfrm>
          <a:prstGeom prst="rect">
            <a:avLst/>
          </a:prstGeom>
          <a:solidFill>
            <a:srgbClr val="F4F2EE"/>
          </a:solidFill>
          <a:ln w="6350">
            <a:solidFill>
              <a:srgbClr val="0A8A6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5715000"/>
            <a:ext cx="0" cy="0"/>
          </a:xfrm>
          <a:prstGeom prst="line">
            <a:avLst/>
          </a:prstGeom>
          <a:noFill/>
          <a:ln w="38100">
            <a:solidFill>
              <a:srgbClr val="0A8A6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5715000"/>
            <a:ext cx="11082528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1A"/>
                </a:solidFill>
              </a:rPr>
              <a:t>Detected in 8 minutes. Contained in 32. Fully recovered in 3.5 hours. Zero ransom paid.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5B3FA8"/>
          </a:solidFill>
          <a:ln w="12700">
            <a:solidFill>
              <a:srgbClr val="5B3F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34440"/>
            <a:ext cx="11155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A1A1A"/>
                </a:solidFill>
              </a:rPr>
              <a:t>Questions?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3200400" y="2852928"/>
            <a:ext cx="5760720" cy="0"/>
          </a:xfrm>
          <a:prstGeom prst="line">
            <a:avLst/>
          </a:prstGeom>
          <a:noFill/>
          <a:ln w="19050">
            <a:solidFill>
              <a:srgbClr val="E8E5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99232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</a:rPr>
              <a:t>Cybersecurity Incident Response Framework  ·  DEPI Academic Project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76272" y="3639312"/>
            <a:ext cx="1901952" cy="12618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76272" y="3639312"/>
            <a:ext cx="1901952" cy="0"/>
          </a:xfrm>
          <a:prstGeom prst="line">
            <a:avLst/>
          </a:prstGeom>
          <a:noFill/>
          <a:ln w="31750">
            <a:solidFill>
              <a:srgbClr val="1A6F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76272" y="3730752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6FBF"/>
                </a:solidFill>
              </a:rPr>
              <a:t>8 min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176272" y="453542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61104" y="3639312"/>
            <a:ext cx="1901952" cy="12618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61104" y="3639312"/>
            <a:ext cx="1901952" cy="0"/>
          </a:xfrm>
          <a:prstGeom prst="line">
            <a:avLst/>
          </a:prstGeom>
          <a:noFill/>
          <a:ln w="31750">
            <a:solidFill>
              <a:srgbClr val="0A8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3730752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8A65"/>
                </a:solidFill>
              </a:rPr>
              <a:t>32 min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261104" y="453542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Contain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45936" y="3639312"/>
            <a:ext cx="1901952" cy="12618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45936" y="3639312"/>
            <a:ext cx="1901952" cy="0"/>
          </a:xfrm>
          <a:prstGeom prst="line">
            <a:avLst/>
          </a:prstGeom>
          <a:noFill/>
          <a:ln w="31750">
            <a:solidFill>
              <a:srgbClr val="0F6B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5936" y="3730752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6B3A"/>
                </a:solidFill>
              </a:rPr>
              <a:t>$0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345936" y="453542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Ransom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30768" y="3639312"/>
            <a:ext cx="1901952" cy="1261872"/>
          </a:xfrm>
          <a:prstGeom prst="rect">
            <a:avLst/>
          </a:prstGeom>
          <a:solidFill>
            <a:srgbClr val="F4F2EE"/>
          </a:solidFill>
          <a:ln w="6350">
            <a:solidFill>
              <a:srgbClr val="E8E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3639312"/>
            <a:ext cx="1901952" cy="0"/>
          </a:xfrm>
          <a:prstGeom prst="line">
            <a:avLst/>
          </a:prstGeom>
          <a:noFill/>
          <a:ln w="31750">
            <a:solidFill>
              <a:srgbClr val="5B3F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3730752"/>
            <a:ext cx="19019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3FA8"/>
                </a:solidFill>
              </a:rPr>
              <a:t>100%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430768" y="4535424"/>
            <a:ext cx="19019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8A8"/>
                </a:solidFill>
              </a:rPr>
              <a:t>Restored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138928"/>
            <a:ext cx="11155680" cy="0"/>
          </a:xfrm>
          <a:prstGeom prst="line">
            <a:avLst/>
          </a:prstGeom>
          <a:noFill/>
          <a:ln w="6350">
            <a:solidFill>
              <a:srgbClr val="E8E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5257800"/>
            <a:ext cx="11155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8A8A8"/>
                </a:solidFill>
              </a:rPr>
              <a:t>github.com/rei-rain/DEPI  ·  All 37 documents available online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925312"/>
            <a:ext cx="12161520" cy="932688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5989320"/>
            <a:ext cx="11155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</a:rPr>
              <a:t>Omar                    Youssef                    Omar                    Mahmoud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IR Framework — Final Presentation</dc:title>
  <dc:subject>PptxGenJS Presentation</dc:subject>
  <dc:creator>DEPI Team</dc:creator>
  <cp:lastModifiedBy>DEPI Team</cp:lastModifiedBy>
  <cp:revision>1</cp:revision>
  <dcterms:created xsi:type="dcterms:W3CDTF">2026-04-01T14:44:29Z</dcterms:created>
  <dcterms:modified xsi:type="dcterms:W3CDTF">2026-04-01T14:44:29Z</dcterms:modified>
</cp:coreProperties>
</file>