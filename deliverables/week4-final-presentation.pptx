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457200"/>
            <a:ext cx="3657600" cy="3657600"/>
          </a:xfrm>
          <a:prstGeom prst="ellipse">
            <a:avLst/>
          </a:prstGeom>
          <a:solidFill>
            <a:srgbClr val="2E5FA3">
              <a:alpha val="20000"/>
            </a:srgbClr>
          </a:solidFill>
          <a:ln w="12700">
            <a:solidFill>
              <a:srgbClr val="2E5FA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2560320"/>
            <a:ext cx="2560320" cy="2560320"/>
          </a:xfrm>
          <a:prstGeom prst="ellipse">
            <a:avLst/>
          </a:prstGeom>
          <a:solidFill>
            <a:srgbClr val="0D9E75">
              <a:alpha val="18000"/>
            </a:srgbClr>
          </a:solidFill>
          <a:ln w="12700">
            <a:solidFill>
              <a:srgbClr val="0D9E75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31520"/>
            <a:ext cx="2011680" cy="347472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315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FINAL 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6858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Cybersecurity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Incident Response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Framework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9E75"/>
                </a:solidFill>
              </a:rPr>
              <a:t>DEPI Academic Project — 4-Week Comprehensive Deliverable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E5FA3">
              <a:alpha val="50000"/>
            </a:srgbClr>
          </a:solidFill>
          <a:ln w="12700">
            <a:solidFill>
              <a:srgbClr val="2E5FA3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E0"/>
                </a:solidFill>
              </a:rPr>
              <a:t>Role 1 (Research)  |  Role 2 (Technical)  |  Role 3 (Documentation)  |  Role 4 (Presenter)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Project Objective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9E75"/>
                </a:solidFill>
              </a:rPr>
              <a:t>2 / 14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8503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64008" cy="12801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C3A"/>
                </a:solidFill>
              </a:rPr>
              <a:t>Build a complete, end-to-end cybersecurity incident response framework — researched, planned, simulated, and validated.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2514600"/>
            <a:ext cx="2011680" cy="237744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26517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01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85800" y="3383280"/>
            <a:ext cx="128016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520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Research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40690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Threat landscape &amp; attacker techniques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2514600"/>
            <a:ext cx="2011680" cy="2377440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14600" y="26517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02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2880360" y="3383280"/>
            <a:ext cx="128016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3520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Plan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06040" y="40690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IR framework + secure architecture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514600"/>
            <a:ext cx="2011680" cy="2377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9160" y="26517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03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5074920" y="3383280"/>
            <a:ext cx="128016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520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Simulate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40690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Live tabletop ransomware exercise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03720" y="2514600"/>
            <a:ext cx="2011680" cy="23774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03720" y="26517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04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7269480" y="3383280"/>
            <a:ext cx="128016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3520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Report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95160" y="40690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Complete DEPI documentation suite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Team Roles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34AB7"/>
                </a:solidFill>
              </a:rPr>
              <a:t>3 / 14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0574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2057400" cy="50292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058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Role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50392" y="1600200"/>
            <a:ext cx="914400" cy="914400"/>
          </a:xfrm>
          <a:prstGeom prst="ellipse">
            <a:avLst/>
          </a:prstGeom>
          <a:solidFill>
            <a:srgbClr val="2E5FA3">
              <a:alpha val="15000"/>
            </a:srgbClr>
          </a:solidFill>
          <a:ln w="12700">
            <a:solidFill>
              <a:srgbClr val="2E5FA3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600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🔵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26060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C3A"/>
                </a:solidFill>
              </a:rPr>
              <a:t>Research Lead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1508760" cy="0"/>
          </a:xfrm>
          <a:prstGeom prst="line">
            <a:avLst/>
          </a:prstGeom>
          <a:noFill/>
          <a:ln w="6350">
            <a:solidFill>
              <a:srgbClr val="E8E6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54680"/>
            <a:ext cx="17830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E9C97"/>
                </a:solidFill>
              </a:rPr>
              <a:t>• Threat landscape research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E9C97"/>
                </a:solidFill>
              </a:rPr>
              <a:t>• Literature review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E9C97"/>
                </a:solidFill>
              </a:rPr>
              <a:t>• Framework analysis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E9C97"/>
                </a:solidFill>
              </a:rPr>
              <a:t>• Executive summary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87168" y="1005840"/>
            <a:ext cx="20574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87168" y="1005840"/>
            <a:ext cx="2057400" cy="502920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87168" y="10058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Role 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63240" y="1600200"/>
            <a:ext cx="914400" cy="914400"/>
          </a:xfrm>
          <a:prstGeom prst="ellipse">
            <a:avLst/>
          </a:prstGeom>
          <a:solidFill>
            <a:srgbClr val="0D9E75">
              <a:alpha val="15000"/>
            </a:srgbClr>
          </a:solidFill>
          <a:ln w="12700">
            <a:solidFill>
              <a:srgbClr val="0D9E75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1600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🟢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578608" y="26060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C3A"/>
                </a:solidFill>
              </a:rPr>
              <a:t>Technical Lead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61488" y="3063240"/>
            <a:ext cx="1508760" cy="0"/>
          </a:xfrm>
          <a:prstGeom prst="line">
            <a:avLst/>
          </a:prstGeom>
          <a:noFill/>
          <a:ln w="6350">
            <a:solidFill>
              <a:srgbClr val="E8E6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24328" y="3154680"/>
            <a:ext cx="17830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E9C97"/>
                </a:solidFill>
              </a:rPr>
              <a:t>• Secure architecture design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E9C97"/>
                </a:solidFill>
              </a:rPr>
              <a:t>• Network discovery docs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E9C97"/>
                </a:solidFill>
              </a:rPr>
              <a:t>• Simulation execution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E9C97"/>
                </a:solidFill>
              </a:rPr>
              <a:t>• Technical reporting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0016" y="1005840"/>
            <a:ext cx="20574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0016" y="1005840"/>
            <a:ext cx="205740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0016" y="10058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Role 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76088" y="1600200"/>
            <a:ext cx="914400" cy="914400"/>
          </a:xfrm>
          <a:prstGeom prst="ellipse">
            <a:avLst/>
          </a:prstGeom>
          <a:solidFill>
            <a:srgbClr val="E67E22">
              <a:alpha val="15000"/>
            </a:srgbClr>
          </a:solidFill>
          <a:ln w="12700">
            <a:solidFill>
              <a:srgbClr val="E67E22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76088" y="1600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🟡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791456" y="26060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C3A"/>
                </a:solidFill>
              </a:rPr>
              <a:t>Documentation Lead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74336" y="3063240"/>
            <a:ext cx="1508760" cy="0"/>
          </a:xfrm>
          <a:prstGeom prst="line">
            <a:avLst/>
          </a:prstGeom>
          <a:noFill/>
          <a:ln w="6350">
            <a:solidFill>
              <a:srgbClr val="E8E6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37176" y="3154680"/>
            <a:ext cx="17830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E9C97"/>
                </a:solidFill>
              </a:rPr>
              <a:t>• IR Plan document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E9C97"/>
                </a:solidFill>
              </a:rPr>
              <a:t>• All formal reports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E9C97"/>
                </a:solidFill>
              </a:rPr>
              <a:t>• Final report compilation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E9C97"/>
                </a:solidFill>
              </a:rPr>
              <a:t>• Quality assurance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12864" y="1005840"/>
            <a:ext cx="20574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12864" y="1005840"/>
            <a:ext cx="2057400" cy="5029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12864" y="10058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Role 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488936" y="1600200"/>
            <a:ext cx="914400" cy="914400"/>
          </a:xfrm>
          <a:prstGeom prst="ellipse">
            <a:avLst/>
          </a:prstGeom>
          <a:solidFill>
            <a:srgbClr val="534AB7">
              <a:alpha val="15000"/>
            </a:srgbClr>
          </a:solidFill>
          <a:ln w="12700">
            <a:solidFill>
              <a:srgbClr val="534AB7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88936" y="1600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🟣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004304" y="26060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C3A"/>
                </a:solidFill>
              </a:rPr>
              <a:t>Presenter Lead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187184" y="3063240"/>
            <a:ext cx="1508760" cy="0"/>
          </a:xfrm>
          <a:prstGeom prst="line">
            <a:avLst/>
          </a:prstGeom>
          <a:noFill/>
          <a:ln w="6350">
            <a:solidFill>
              <a:srgbClr val="E8E6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50024" y="3154680"/>
            <a:ext cx="17830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E9C97"/>
                </a:solidFill>
              </a:rPr>
              <a:t>• Presentation slides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E9C97"/>
                </a:solidFill>
              </a:rPr>
              <a:t>• Speaker notes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E9C97"/>
                </a:solidFill>
              </a:rPr>
              <a:t>• Q&amp;A preparation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E9C97"/>
                </a:solidFill>
              </a:rPr>
              <a:t>• Live delivery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Week 1 — Threat Landscape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0392B"/>
                </a:solidFill>
              </a:rPr>
              <a:t>4 / 14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457200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Over 80% of cybersecurity incidents begin with phishing — the single most critical entry vector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72768"/>
            <a:ext cx="27432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700784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C3A"/>
                </a:solidFill>
              </a:rPr>
              <a:t>Phishing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" y="2139696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80%+ of incidents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572768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572768"/>
            <a:ext cx="274320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1700784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C3A"/>
                </a:solidFill>
              </a:rPr>
              <a:t>Ransomware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28416" y="2139696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</a:rPr>
              <a:t>↑93% in 2021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572768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572768"/>
            <a:ext cx="2743200" cy="6400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1700784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C3A"/>
                </a:solidFill>
              </a:rPr>
              <a:t>Malware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54496" y="2139696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FA3"/>
                </a:solidFill>
              </a:rPr>
              <a:t>94% of breaches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990088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90088"/>
            <a:ext cx="2743200" cy="6400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3118104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C3A"/>
                </a:solidFill>
              </a:rPr>
              <a:t>DDoS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02336" y="3557016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$218K/hr downtime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2990088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90088"/>
            <a:ext cx="2743200" cy="64008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28416" y="3118104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C3A"/>
                </a:solidFill>
              </a:rPr>
              <a:t>Insider Threat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28416" y="3557016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E75"/>
                </a:solidFill>
              </a:rPr>
              <a:t>34% of breaches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2990088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2990088"/>
            <a:ext cx="2743200" cy="64008"/>
          </a:xfrm>
          <a:prstGeom prst="rect">
            <a:avLst/>
          </a:prstGeom>
          <a:solidFill>
            <a:srgbClr val="3D3C3A"/>
          </a:solidFill>
          <a:ln w="12700">
            <a:solidFill>
              <a:srgbClr val="3D3C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54496" y="3118104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C3A"/>
                </a:solidFill>
              </a:rPr>
              <a:t>Man-in-Middle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54496" y="3557016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C3A"/>
                </a:solidFill>
              </a:rPr>
              <a:t>Open Wi-Fi risk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Week 1 — Network Discovery vs Defense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9E75"/>
                </a:solidFill>
              </a:rPr>
              <a:t>5 / 14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51460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Attack Technique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960120"/>
            <a:ext cx="2606040" cy="411480"/>
          </a:xfrm>
          <a:prstGeom prst="rect">
            <a:avLst/>
          </a:prstGeom>
          <a:solidFill>
            <a:srgbClr val="3D3C3A"/>
          </a:solidFill>
          <a:ln w="12700">
            <a:solidFill>
              <a:srgbClr val="3D3C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960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Command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960120"/>
            <a:ext cx="3200400" cy="411480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Defensive Control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444752"/>
            <a:ext cx="8595360" cy="612648"/>
          </a:xfrm>
          <a:prstGeom prst="rect">
            <a:avLst/>
          </a:prstGeom>
          <a:solidFill>
            <a:srgbClr val="F0EEE8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44752"/>
            <a:ext cx="54864" cy="6126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1444752"/>
            <a:ext cx="242316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C3A"/>
                </a:solidFill>
              </a:rPr>
              <a:t>Ping Sweep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1444752"/>
            <a:ext cx="26060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5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0" y="1444752"/>
            <a:ext cx="32004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E75"/>
                </a:solidFill>
              </a:rPr>
              <a:t>Block ICMP at perimeter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121408"/>
            <a:ext cx="8595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121408"/>
            <a:ext cx="54864" cy="6126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121408"/>
            <a:ext cx="242316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C3A"/>
                </a:solidFill>
              </a:rPr>
              <a:t>Port Scanning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0" y="2121408"/>
            <a:ext cx="26060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5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0" y="2121408"/>
            <a:ext cx="32004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E75"/>
                </a:solidFill>
              </a:rPr>
              <a:t>Close all unused ports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798064"/>
            <a:ext cx="8595360" cy="612648"/>
          </a:xfrm>
          <a:prstGeom prst="rect">
            <a:avLst/>
          </a:prstGeom>
          <a:solidFill>
            <a:srgbClr val="F0EEE8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798064"/>
            <a:ext cx="54864" cy="61264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2798064"/>
            <a:ext cx="242316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C3A"/>
                </a:solidFill>
              </a:rPr>
              <a:t>Service Detection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26080" y="2798064"/>
            <a:ext cx="26060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5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0" y="2798064"/>
            <a:ext cx="32004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E75"/>
                </a:solidFill>
              </a:rPr>
              <a:t>Patch — eliminate CVEs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474720"/>
            <a:ext cx="8595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474720"/>
            <a:ext cx="54864" cy="612648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3474720"/>
            <a:ext cx="242316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C3A"/>
                </a:solidFill>
              </a:rPr>
              <a:t>OS Fingerprinting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926080" y="3474720"/>
            <a:ext cx="26060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5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0" y="3474720"/>
            <a:ext cx="32004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E75"/>
                </a:solidFill>
              </a:rPr>
              <a:t>Normalize packet responses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151376"/>
            <a:ext cx="8595360" cy="612648"/>
          </a:xfrm>
          <a:prstGeom prst="rect">
            <a:avLst/>
          </a:prstGeom>
          <a:solidFill>
            <a:srgbClr val="F0EEE8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151376"/>
            <a:ext cx="54864" cy="61264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" y="4151376"/>
            <a:ext cx="242316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C3A"/>
                </a:solidFill>
              </a:rPr>
              <a:t>Enumeration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926080" y="4151376"/>
            <a:ext cx="26060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5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enum4linux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69280" y="4151376"/>
            <a:ext cx="32004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E75"/>
                </a:solidFill>
              </a:rPr>
              <a:t>Restrict SNMP, DNS, NetBIOS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1A2B5E">
              <a:alpha val="85000"/>
            </a:srgbClr>
          </a:solidFill>
          <a:ln w="12700">
            <a:solidFill>
              <a:srgbClr val="1A2B5E">
                <a:alpha val="8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Every attacker technique = a specific defensive control. Know the attack, close the gap.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Week 2 — Incident Response Plan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5FA3"/>
                </a:solidFill>
              </a:rPr>
              <a:t>6 / 14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5FA3"/>
                </a:solidFill>
              </a:rPr>
              <a:t>Combined NIST SP 800-61 + SANS PICERL — 6 phases, fully documented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26464" y="2240280"/>
            <a:ext cx="292608" cy="274320"/>
          </a:xfrm>
          <a:prstGeom prst="rect">
            <a:avLst/>
          </a:prstGeom>
          <a:solidFill>
            <a:srgbClr val="E8E6E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26464" y="224028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9C97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" y="1371600"/>
            <a:ext cx="1234440" cy="20116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" y="146304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38912" y="2084832"/>
            <a:ext cx="8686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217627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Preparation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" y="2724912"/>
            <a:ext cx="10881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Tools, policies,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team readiness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89504" y="2240280"/>
            <a:ext cx="292608" cy="274320"/>
          </a:xfrm>
          <a:prstGeom prst="rect">
            <a:avLst/>
          </a:prstGeom>
          <a:solidFill>
            <a:srgbClr val="E8E6E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9504" y="224028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9C97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719072" y="1371600"/>
            <a:ext cx="1234440" cy="20116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719072" y="146304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901952" y="2084832"/>
            <a:ext cx="8686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19072" y="217627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Detection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92224" y="2724912"/>
            <a:ext cx="10881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Classify severity,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collect evidence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52544" y="2240280"/>
            <a:ext cx="292608" cy="274320"/>
          </a:xfrm>
          <a:prstGeom prst="rect">
            <a:avLst/>
          </a:prstGeom>
          <a:solidFill>
            <a:srgbClr val="E8E6E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52544" y="224028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9C97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182112" y="1371600"/>
            <a:ext cx="1234440" cy="2011680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182112" y="146304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3364992" y="2084832"/>
            <a:ext cx="8686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82112" y="217627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Containment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55264" y="2724912"/>
            <a:ext cx="10881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Isolate, block C2,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preserve evidence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15584" y="2240280"/>
            <a:ext cx="292608" cy="274320"/>
          </a:xfrm>
          <a:prstGeom prst="rect">
            <a:avLst/>
          </a:prstGeom>
          <a:solidFill>
            <a:srgbClr val="E8E6E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15584" y="224028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9C97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645152" y="1371600"/>
            <a:ext cx="1234440" cy="2011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45152" y="146304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4828032" y="2084832"/>
            <a:ext cx="8686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217627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Eradication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18304" y="2724912"/>
            <a:ext cx="10881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Remove malware,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patch root cause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78624" y="2240280"/>
            <a:ext cx="292608" cy="274320"/>
          </a:xfrm>
          <a:prstGeom prst="rect">
            <a:avLst/>
          </a:prstGeom>
          <a:solidFill>
            <a:srgbClr val="E8E6E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78624" y="224028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9C97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108192" y="1371600"/>
            <a:ext cx="1234440" cy="20116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108192" y="146304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sp>
        <p:nvSpPr>
          <p:cNvPr id="39" name="Shape 37"/>
          <p:cNvSpPr/>
          <p:nvPr/>
        </p:nvSpPr>
        <p:spPr>
          <a:xfrm>
            <a:off x="6291072" y="2084832"/>
            <a:ext cx="8686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08192" y="217627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Recovery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81344" y="2724912"/>
            <a:ext cx="10881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Restore backup,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verify integrity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571232" y="1371600"/>
            <a:ext cx="1234440" cy="20116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571232" y="146304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n-US" sz="2800" dirty="0"/>
          </a:p>
        </p:txBody>
      </p:sp>
      <p:sp>
        <p:nvSpPr>
          <p:cNvPr id="44" name="Shape 42"/>
          <p:cNvSpPr/>
          <p:nvPr/>
        </p:nvSpPr>
        <p:spPr>
          <a:xfrm>
            <a:off x="7754112" y="2084832"/>
            <a:ext cx="8686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71232" y="217627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Lessons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Learned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44384" y="2724912"/>
            <a:ext cx="10881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Review, report,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update IR Plan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6032" y="3547872"/>
            <a:ext cx="863193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56032" y="3547872"/>
            <a:ext cx="64008" cy="141732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3593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C3A"/>
                </a:solidFill>
              </a:rPr>
              <a:t>Severity Matrix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" y="3977640"/>
            <a:ext cx="1920240" cy="731520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01421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Critical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" y="43251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&lt; 1 hr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560320" y="3977640"/>
            <a:ext cx="1920240" cy="731520"/>
          </a:xfrm>
          <a:prstGeom prst="rect">
            <a:avLst/>
          </a:prstGeom>
          <a:solidFill>
            <a:srgbClr val="E67E22">
              <a:alpha val="12000"/>
            </a:srgbClr>
          </a:solidFill>
          <a:ln w="12700">
            <a:solidFill>
              <a:srgbClr val="E67E22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60320" y="401421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</a:rPr>
              <a:t>High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560320" y="43251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</a:rPr>
              <a:t>&lt; 4 hrs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663440" y="3977640"/>
            <a:ext cx="1920240" cy="731520"/>
          </a:xfrm>
          <a:prstGeom prst="rect">
            <a:avLst/>
          </a:prstGeom>
          <a:solidFill>
            <a:srgbClr val="2E5FA3">
              <a:alpha val="12000"/>
            </a:srgbClr>
          </a:solidFill>
          <a:ln w="12700">
            <a:solidFill>
              <a:srgbClr val="2E5FA3">
                <a:alpha val="4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63440" y="401421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FA3"/>
                </a:solidFill>
              </a:rPr>
              <a:t>Medium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663440" y="43251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FA3"/>
                </a:solidFill>
              </a:rPr>
              <a:t>&lt; 24 hrs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766560" y="3977640"/>
            <a:ext cx="1920240" cy="731520"/>
          </a:xfrm>
          <a:prstGeom prst="rect">
            <a:avLst/>
          </a:prstGeom>
          <a:solidFill>
            <a:srgbClr val="0D9E75">
              <a:alpha val="12000"/>
            </a:srgbClr>
          </a:solidFill>
          <a:ln w="12700">
            <a:solidFill>
              <a:srgbClr val="0D9E75">
                <a:alpha val="4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66560" y="401421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E75"/>
                </a:solidFill>
              </a:rPr>
              <a:t>Low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766560" y="43251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E75"/>
                </a:solidFill>
              </a:rPr>
              <a:t>&lt; 72 hrs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Week 2 — Secure Network Architecture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9E75"/>
                </a:solidFill>
              </a:rPr>
              <a:t>7 / 14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49040" y="960120"/>
            <a:ext cx="1645920" cy="475488"/>
          </a:xfrm>
          <a:prstGeom prst="ellipse">
            <a:avLst/>
          </a:prstGeom>
          <a:solidFill>
            <a:srgbClr val="9E9C97">
              <a:alpha val="50000"/>
            </a:srgbClr>
          </a:solidFill>
          <a:ln w="12700">
            <a:solidFill>
              <a:srgbClr val="9E9C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9601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INTERNET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0" y="1435608"/>
            <a:ext cx="0" cy="365760"/>
          </a:xfrm>
          <a:prstGeom prst="line">
            <a:avLst/>
          </a:prstGeom>
          <a:noFill/>
          <a:ln w="19050">
            <a:solidFill>
              <a:srgbClr val="9E9C9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801368"/>
            <a:ext cx="256032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8013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🛡 PERIMETER FIREWALL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2212848"/>
            <a:ext cx="0" cy="32004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2532888"/>
            <a:ext cx="4023360" cy="502920"/>
          </a:xfrm>
          <a:prstGeom prst="rect">
            <a:avLst/>
          </a:prstGeom>
          <a:solidFill>
            <a:srgbClr val="E67E22">
              <a:alpha val="20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53288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</a:rPr>
              <a:t>DMZ  (Web Server • DNS)  VLAN 20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3035808"/>
            <a:ext cx="0" cy="320040"/>
          </a:xfrm>
          <a:prstGeom prst="line">
            <a:avLst/>
          </a:prstGeom>
          <a:noFill/>
          <a:ln w="19050">
            <a:solidFill>
              <a:srgbClr val="E67E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3355848"/>
            <a:ext cx="2560320" cy="38404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33558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🛡 INTERNAL FIREWALL + WAF + IDS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94560" y="3739896"/>
            <a:ext cx="4754880" cy="0"/>
          </a:xfrm>
          <a:prstGeom prst="line">
            <a:avLst/>
          </a:prstGeom>
          <a:noFill/>
          <a:ln w="12700">
            <a:solidFill>
              <a:srgbClr val="2E5FA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4560" y="3739896"/>
            <a:ext cx="0" cy="320040"/>
          </a:xfrm>
          <a:prstGeom prst="line">
            <a:avLst/>
          </a:prstGeom>
          <a:noFill/>
          <a:ln w="12700">
            <a:solidFill>
              <a:srgbClr val="2E5FA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3739896"/>
            <a:ext cx="0" cy="320040"/>
          </a:xfrm>
          <a:prstGeom prst="line">
            <a:avLst/>
          </a:prstGeom>
          <a:noFill/>
          <a:ln w="12700">
            <a:solidFill>
              <a:srgbClr val="2E5FA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3739896"/>
            <a:ext cx="0" cy="320040"/>
          </a:xfrm>
          <a:prstGeom prst="line">
            <a:avLst/>
          </a:prstGeom>
          <a:noFill/>
          <a:ln w="12700">
            <a:solidFill>
              <a:srgbClr val="2E5F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80160" y="4059936"/>
            <a:ext cx="2331720" cy="822960"/>
          </a:xfrm>
          <a:prstGeom prst="rect">
            <a:avLst/>
          </a:prstGeom>
          <a:solidFill>
            <a:srgbClr val="0D9E75">
              <a:alpha val="12000"/>
            </a:srgbClr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411480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E75"/>
                </a:solidFill>
              </a:rPr>
              <a:t>User LAN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80160" y="444398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E75"/>
                </a:solidFill>
              </a:rPr>
              <a:t>VLAN 10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11880" y="4059936"/>
            <a:ext cx="2331720" cy="822960"/>
          </a:xfrm>
          <a:prstGeom prst="rect">
            <a:avLst/>
          </a:prstGeom>
          <a:solidFill>
            <a:srgbClr val="1A2B5E">
              <a:alpha val="12000"/>
            </a:srgbClr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411480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Server Zone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11880" y="444398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5E"/>
                </a:solidFill>
              </a:rPr>
              <a:t>VLAN 30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89320" y="4059936"/>
            <a:ext cx="2331720" cy="822960"/>
          </a:xfrm>
          <a:prstGeom prst="rect">
            <a:avLst/>
          </a:prstGeom>
          <a:solidFill>
            <a:srgbClr val="534AB7">
              <a:alpha val="12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411480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34AB7"/>
                </a:solidFill>
              </a:rPr>
              <a:t>Mgmt Zone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89320" y="444398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34AB7"/>
                </a:solidFill>
              </a:rPr>
              <a:t>VLAN 99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" y="1097280"/>
            <a:ext cx="2286000" cy="2697480"/>
          </a:xfrm>
          <a:prstGeom prst="rect">
            <a:avLst/>
          </a:prstGeom>
          <a:solidFill>
            <a:srgbClr val="1A2B5E">
              <a:alpha val="90000"/>
            </a:srgbClr>
          </a:solidFill>
          <a:ln w="12700">
            <a:solidFill>
              <a:srgbClr val="1A2B5E">
                <a:alpha val="9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1097280"/>
            <a:ext cx="64008" cy="2697480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11704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Design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Principles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4048" y="1691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6E0"/>
                </a:solidFill>
              </a:rPr>
              <a:t>• Zero Trust model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4048" y="207568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6E0"/>
                </a:solidFill>
              </a:rPr>
              <a:t>• No DMZ → Server direct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4048" y="2459736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6E0"/>
                </a:solidFill>
              </a:rPr>
              <a:t>• DB via App only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84048" y="2843784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6E0"/>
                </a:solidFill>
              </a:rPr>
              <a:t>• Mgmt Zone: MFA+VPN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84048" y="322783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6E0"/>
                </a:solidFill>
              </a:rPr>
              <a:t>• All traffic logged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548640"/>
            <a:ext cx="3200400" cy="3200400"/>
          </a:xfrm>
          <a:prstGeom prst="ellipse">
            <a:avLst/>
          </a:prstGeom>
          <a:solidFill>
            <a:srgbClr val="2E5FA3">
              <a:alpha val="18000"/>
            </a:srgbClr>
          </a:solidFill>
          <a:ln w="12700">
            <a:solidFill>
              <a:srgbClr val="2E5FA3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Week 3 — Attack Scenario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392B"/>
                </a:solidFill>
              </a:rPr>
              <a:t>Operation Locked Vault — 8-stage phishing → ransomware chain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8138160" cy="0"/>
          </a:xfrm>
          <a:prstGeom prst="line">
            <a:avLst/>
          </a:prstGeom>
          <a:noFill/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2258568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34440"/>
            <a:ext cx="0" cy="1024128"/>
          </a:xfrm>
          <a:prstGeom prst="line">
            <a:avLst/>
          </a:prstGeom>
          <a:noFill/>
          <a:ln w="12700">
            <a:solidFill>
              <a:srgbClr val="C0392B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457200"/>
            <a:ext cx="960120" cy="685800"/>
          </a:xfrm>
          <a:prstGeom prst="rect">
            <a:avLst/>
          </a:prstGeom>
          <a:solidFill>
            <a:srgbClr val="C0392B">
              <a:alpha val="20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5720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Phishing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188720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9C97"/>
                </a:solidFill>
              </a:rPr>
              <a:t>09:14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773936" y="2258568"/>
            <a:ext cx="146304" cy="146304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47088" y="2404872"/>
            <a:ext cx="0" cy="914400"/>
          </a:xfrm>
          <a:prstGeom prst="line">
            <a:avLst/>
          </a:prstGeom>
          <a:noFill/>
          <a:ln w="12700">
            <a:solidFill>
              <a:srgbClr val="E67E22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81328" y="3319272"/>
            <a:ext cx="960120" cy="685800"/>
          </a:xfrm>
          <a:prstGeom prst="rect">
            <a:avLst/>
          </a:prstGeom>
          <a:solidFill>
            <a:srgbClr val="E67E22">
              <a:alpha val="20000"/>
            </a:srgbClr>
          </a:solidFill>
          <a:ln w="12700">
            <a:solidFill>
              <a:srgbClr val="E67E22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81328" y="3319272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Installed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81328" y="3145536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9C97"/>
                </a:solidFill>
              </a:rPr>
              <a:t>09:31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843784" y="2258568"/>
            <a:ext cx="146304" cy="146304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16936" y="1234440"/>
            <a:ext cx="0" cy="1024128"/>
          </a:xfrm>
          <a:prstGeom prst="line">
            <a:avLst/>
          </a:prstGeom>
          <a:noFill/>
          <a:ln w="12700">
            <a:solidFill>
              <a:srgbClr val="2E5FA3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1176" y="457200"/>
            <a:ext cx="960120" cy="685800"/>
          </a:xfrm>
          <a:prstGeom prst="rect">
            <a:avLst/>
          </a:prstGeom>
          <a:solidFill>
            <a:srgbClr val="2E5FA3">
              <a:alpha val="20000"/>
            </a:srgbClr>
          </a:solidFill>
          <a:ln w="12700">
            <a:solidFill>
              <a:srgbClr val="2E5FA3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51176" y="45720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Recon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51176" y="1188720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9C97"/>
                </a:solidFill>
              </a:rPr>
              <a:t>10:05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913632" y="2258568"/>
            <a:ext cx="146304" cy="146304"/>
          </a:xfrm>
          <a:prstGeom prst="ellipse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86784" y="2404872"/>
            <a:ext cx="0" cy="914400"/>
          </a:xfrm>
          <a:prstGeom prst="line">
            <a:avLst/>
          </a:prstGeom>
          <a:noFill/>
          <a:ln w="12700">
            <a:solidFill>
              <a:srgbClr val="0D9E75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21024" y="3319272"/>
            <a:ext cx="960120" cy="685800"/>
          </a:xfrm>
          <a:prstGeom prst="rect">
            <a:avLst/>
          </a:prstGeom>
          <a:solidFill>
            <a:srgbClr val="0D9E75">
              <a:alpha val="20000"/>
            </a:srgbClr>
          </a:solidFill>
          <a:ln w="12700">
            <a:solidFill>
              <a:srgbClr val="0D9E75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21024" y="3319272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Priv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Escalate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21024" y="3145536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9C97"/>
                </a:solidFill>
              </a:rPr>
              <a:t>11:22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983480" y="2258568"/>
            <a:ext cx="146304" cy="14630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56632" y="1234440"/>
            <a:ext cx="0" cy="1024128"/>
          </a:xfrm>
          <a:prstGeom prst="line">
            <a:avLst/>
          </a:prstGeom>
          <a:noFill/>
          <a:ln w="12700">
            <a:solidFill>
              <a:srgbClr val="534AB7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90872" y="457200"/>
            <a:ext cx="960120" cy="685800"/>
          </a:xfrm>
          <a:prstGeom prst="rect">
            <a:avLst/>
          </a:prstGeom>
          <a:solidFill>
            <a:srgbClr val="534AB7">
              <a:alpha val="20000"/>
            </a:srgbClr>
          </a:solidFill>
          <a:ln w="12700">
            <a:solidFill>
              <a:srgbClr val="534AB7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90872" y="45720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Lateral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Move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90872" y="1188720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9C97"/>
                </a:solidFill>
              </a:rPr>
              <a:t>12:47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053328" y="2258568"/>
            <a:ext cx="146304" cy="146304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2404872"/>
            <a:ext cx="0" cy="914400"/>
          </a:xfrm>
          <a:prstGeom prst="line">
            <a:avLst/>
          </a:prstGeom>
          <a:noFill/>
          <a:ln w="12700">
            <a:solidFill>
              <a:srgbClr val="E67E22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0" y="3319272"/>
            <a:ext cx="960120" cy="685800"/>
          </a:xfrm>
          <a:prstGeom prst="rect">
            <a:avLst/>
          </a:prstGeom>
          <a:solidFill>
            <a:srgbClr val="E67E22">
              <a:alpha val="20000"/>
            </a:srgbClr>
          </a:solidFill>
          <a:ln w="12700">
            <a:solidFill>
              <a:srgbClr val="E67E22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3319272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Exfil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2.3GB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60720" y="3145536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9C97"/>
                </a:solidFill>
              </a:rPr>
              <a:t>14:10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123176" y="2258568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96328" y="1234440"/>
            <a:ext cx="0" cy="1024128"/>
          </a:xfrm>
          <a:prstGeom prst="line">
            <a:avLst/>
          </a:prstGeom>
          <a:noFill/>
          <a:ln w="12700">
            <a:solidFill>
              <a:srgbClr val="C0392B">
                <a:alpha val="5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30568" y="457200"/>
            <a:ext cx="960120" cy="685800"/>
          </a:xfrm>
          <a:prstGeom prst="rect">
            <a:avLst/>
          </a:prstGeom>
          <a:solidFill>
            <a:srgbClr val="C0392B">
              <a:alpha val="20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30568" y="45720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Ransom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Deploy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30568" y="1188720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9C97"/>
                </a:solidFill>
              </a:rPr>
              <a:t>15:33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193024" y="2258568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66176" y="2404872"/>
            <a:ext cx="0" cy="914400"/>
          </a:xfrm>
          <a:prstGeom prst="line">
            <a:avLst/>
          </a:prstGeom>
          <a:noFill/>
          <a:ln w="12700">
            <a:solidFill>
              <a:srgbClr val="1A7A4A">
                <a:alpha val="5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00416" y="3319272"/>
            <a:ext cx="960120" cy="685800"/>
          </a:xfrm>
          <a:prstGeom prst="rect">
            <a:avLst/>
          </a:prstGeom>
          <a:solidFill>
            <a:srgbClr val="1A7A4A">
              <a:alpha val="20000"/>
            </a:srgbClr>
          </a:solidFill>
          <a:ln w="12700">
            <a:solidFill>
              <a:srgbClr val="1A7A4A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00416" y="3319272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🚨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Detected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900416" y="3145536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9C97"/>
                </a:solidFill>
              </a:rPr>
              <a:t>15:41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914400" y="4343400"/>
            <a:ext cx="2468880" cy="594360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05840" y="437997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</a:rPr>
              <a:t>Data Breach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103120" y="4379976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2.3 GB stolen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749040" y="4343400"/>
            <a:ext cx="2468880" cy="594360"/>
          </a:xfrm>
          <a:prstGeom prst="rect">
            <a:avLst/>
          </a:prstGeom>
          <a:solidFill>
            <a:srgbClr val="E67E22">
              <a:alpha val="15000"/>
            </a:srgbClr>
          </a:solidFill>
          <a:ln w="12700">
            <a:solidFill>
              <a:srgbClr val="E67E22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0" y="437997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</a:rPr>
              <a:t>Encrypted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937760" y="4379976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All file server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583680" y="4343400"/>
            <a:ext cx="2468880" cy="594360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75120" y="437997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</a:rPr>
              <a:t>Ransom Ask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772400" y="4379976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$50,000 BTC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Week 3 — IR Team Response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7A4A"/>
                </a:solidFill>
              </a:rPr>
              <a:t>9 / 14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1645920" cy="84124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0584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Detection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44475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 min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965960" y="1097280"/>
            <a:ext cx="1280160" cy="640080"/>
          </a:xfrm>
          <a:prstGeom prst="rect">
            <a:avLst/>
          </a:prstGeom>
          <a:solidFill>
            <a:srgbClr val="2E5FA3">
              <a:alpha val="12000"/>
            </a:srgbClr>
          </a:solidFill>
          <a:ln w="12700">
            <a:solidFill>
              <a:srgbClr val="2E5FA3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10972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5FA3"/>
                </a:solidFill>
              </a:rPr>
              <a:t>Target: &lt; 15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37560" y="10972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4A"/>
                </a:solidFill>
              </a:rPr>
              <a:t>✅ MET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43400" y="1005840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C3A"/>
                </a:solidFill>
              </a:rPr>
              <a:t>SIEM outbound alert → source workstation identified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96596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965960"/>
            <a:ext cx="1645920" cy="841248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96596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Containment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240487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32 min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965960" y="2057400"/>
            <a:ext cx="1280160" cy="640080"/>
          </a:xfrm>
          <a:prstGeom prst="rect">
            <a:avLst/>
          </a:prstGeom>
          <a:solidFill>
            <a:srgbClr val="0D9E75">
              <a:alpha val="12000"/>
            </a:srgbClr>
          </a:solidFill>
          <a:ln w="12700">
            <a:solidFill>
              <a:srgbClr val="0D9E75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5960" y="20574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E75"/>
                </a:solidFill>
              </a:rPr>
              <a:t>Target: &lt; 60 min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0574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4A"/>
                </a:solidFill>
              </a:rPr>
              <a:t>✅ MET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43400" y="1965960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C3A"/>
                </a:solidFill>
              </a:rPr>
              <a:t>2 systems isolated • C2 blocked • evidence preserved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92608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926080"/>
            <a:ext cx="1645920" cy="8412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92608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Eradication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336499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1h 45m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965960" y="3017520"/>
            <a:ext cx="1280160" cy="640080"/>
          </a:xfrm>
          <a:prstGeom prst="rect">
            <a:avLst/>
          </a:prstGeom>
          <a:solidFill>
            <a:srgbClr val="E67E22">
              <a:alpha val="12000"/>
            </a:srgbClr>
          </a:solidFill>
          <a:ln w="12700">
            <a:solidFill>
              <a:srgbClr val="E67E22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65960" y="30175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7E22"/>
                </a:solidFill>
              </a:rPr>
              <a:t>Target: &lt; 4 hrs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37560" y="30175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4A"/>
                </a:solidFill>
              </a:rPr>
              <a:t>✅ MET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43400" y="2926080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C3A"/>
                </a:solidFill>
              </a:rPr>
              <a:t>RAT removed • PrintNightmare patched • credentials reset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88620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886200"/>
            <a:ext cx="1645920" cy="8412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8862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Recovery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" y="432511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1h 15m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965960" y="3977640"/>
            <a:ext cx="1280160" cy="640080"/>
          </a:xfrm>
          <a:prstGeom prst="rect">
            <a:avLst/>
          </a:prstGeom>
          <a:solidFill>
            <a:srgbClr val="1A7A4A">
              <a:alpha val="12000"/>
            </a:srgbClr>
          </a:solidFill>
          <a:ln w="12700">
            <a:solidFill>
              <a:srgbClr val="1A7A4A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65960" y="397764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7A4A"/>
                </a:solidFill>
              </a:rPr>
              <a:t>Target: &lt; 4 hrs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37560" y="39776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4A"/>
                </a:solidFill>
              </a:rPr>
              <a:t>✅ MET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43400" y="3886200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C3A"/>
                </a:solidFill>
              </a:rPr>
              <a:t>File server restored from backup • integrity verified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solidFill>
            <a:srgbClr val="1A7A4A">
              <a:alpha val="90000"/>
            </a:srgbClr>
          </a:solidFill>
          <a:ln w="12700">
            <a:solidFill>
              <a:srgbClr val="1A7A4A">
                <a:alpha val="9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solidFill>
            <a:srgbClr val="1A7A4A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Total response time: 3 hours 30 minutes  |  All 4 targets met  |  No ransom paid  |  100% systems restored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Week 3 — Simulation Results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7A4A"/>
                </a:solidFill>
              </a:rPr>
              <a:t>10 / 14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2743200" cy="7315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8872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5FA3"/>
                </a:solidFill>
              </a:rPr>
              <a:t>8 min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2011680" cy="0"/>
          </a:xfrm>
          <a:prstGeom prst="line">
            <a:avLst/>
          </a:prstGeom>
          <a:noFill/>
          <a:ln w="6350">
            <a:solidFill>
              <a:srgbClr val="E8E6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C97"/>
                </a:solidFill>
              </a:rPr>
              <a:t>Detection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05840"/>
            <a:ext cx="2743200" cy="73152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18872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E75"/>
                </a:solidFill>
              </a:rPr>
              <a:t>32 min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3566160" y="2057400"/>
            <a:ext cx="2011680" cy="0"/>
          </a:xfrm>
          <a:prstGeom prst="line">
            <a:avLst/>
          </a:prstGeom>
          <a:noFill/>
          <a:ln w="6350">
            <a:solidFill>
              <a:srgbClr val="E8E6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C97"/>
                </a:solidFill>
              </a:rPr>
              <a:t>Containment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05840"/>
            <a:ext cx="2743200" cy="731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18872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7A4A"/>
                </a:solidFill>
              </a:rPr>
              <a:t>3.5 hrs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6492240" y="2057400"/>
            <a:ext cx="2011680" cy="0"/>
          </a:xfrm>
          <a:prstGeom prst="line">
            <a:avLst/>
          </a:prstGeom>
          <a:noFill/>
          <a:ln w="6350">
            <a:solidFill>
              <a:srgbClr val="E8E6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C97"/>
                </a:solidFill>
              </a:rPr>
              <a:t>Full Recovery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88036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880360"/>
            <a:ext cx="27432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0632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392B"/>
                </a:solidFill>
              </a:rPr>
              <a:t>$0</a:t>
            </a:r>
            <a:endParaRPr lang="en-US" sz="3600" dirty="0"/>
          </a:p>
        </p:txBody>
      </p:sp>
      <p:sp>
        <p:nvSpPr>
          <p:cNvPr id="24" name="Shape 22"/>
          <p:cNvSpPr/>
          <p:nvPr/>
        </p:nvSpPr>
        <p:spPr>
          <a:xfrm>
            <a:off x="640080" y="3931920"/>
            <a:ext cx="2011680" cy="0"/>
          </a:xfrm>
          <a:prstGeom prst="line">
            <a:avLst/>
          </a:prstGeom>
          <a:noFill/>
          <a:ln w="6350">
            <a:solidFill>
              <a:srgbClr val="E8E6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C97"/>
                </a:solidFill>
              </a:rPr>
              <a:t>Ransom Paid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288036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2880360"/>
            <a:ext cx="2743200" cy="731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30632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7A4A"/>
                </a:solidFill>
              </a:rPr>
              <a:t>100%</a:t>
            </a:r>
            <a:endParaRPr lang="en-US" sz="3600" dirty="0"/>
          </a:p>
        </p:txBody>
      </p:sp>
      <p:sp>
        <p:nvSpPr>
          <p:cNvPr id="29" name="Shape 27"/>
          <p:cNvSpPr/>
          <p:nvPr/>
        </p:nvSpPr>
        <p:spPr>
          <a:xfrm>
            <a:off x="3566160" y="3931920"/>
            <a:ext cx="2011680" cy="0"/>
          </a:xfrm>
          <a:prstGeom prst="line">
            <a:avLst/>
          </a:prstGeom>
          <a:noFill/>
          <a:ln w="6350">
            <a:solidFill>
              <a:srgbClr val="E8E6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C97"/>
                </a:solidFill>
              </a:rPr>
              <a:t>Systems Restored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288036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880360"/>
            <a:ext cx="2743200" cy="7315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30632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34AB7"/>
                </a:solidFill>
              </a:rPr>
              <a:t>7 / 7</a:t>
            </a:r>
            <a:endParaRPr lang="en-US" sz="3600" dirty="0"/>
          </a:p>
        </p:txBody>
      </p:sp>
      <p:sp>
        <p:nvSpPr>
          <p:cNvPr id="34" name="Shape 32"/>
          <p:cNvSpPr/>
          <p:nvPr/>
        </p:nvSpPr>
        <p:spPr>
          <a:xfrm>
            <a:off x="6492240" y="3931920"/>
            <a:ext cx="2011680" cy="0"/>
          </a:xfrm>
          <a:prstGeom prst="line">
            <a:avLst/>
          </a:prstGeom>
          <a:noFill/>
          <a:ln w="6350">
            <a:solidFill>
              <a:srgbClr val="E8E6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C97"/>
                </a:solidFill>
              </a:rPr>
              <a:t>MITRE Techniques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E9C97"/>
                </a:solidFill>
              </a:rPr>
              <a:t>Identified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Key Findings &amp; Security Gaps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0392B"/>
                </a:solidFill>
              </a:rPr>
              <a:t>11 / 14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686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Priority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80160" y="960120"/>
            <a:ext cx="2468880" cy="347472"/>
          </a:xfrm>
          <a:prstGeom prst="rect">
            <a:avLst/>
          </a:prstGeom>
          <a:solidFill>
            <a:srgbClr val="3D3C3A"/>
          </a:solidFill>
          <a:ln w="12700">
            <a:solidFill>
              <a:srgbClr val="3D3C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960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Gap Found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960120"/>
            <a:ext cx="237744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9601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Impact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960120"/>
            <a:ext cx="260604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9601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Fix Required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371600"/>
            <a:ext cx="8595360" cy="530352"/>
          </a:xfrm>
          <a:prstGeom prst="rect">
            <a:avLst/>
          </a:prstGeom>
          <a:solidFill>
            <a:srgbClr val="F0EEE8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371600"/>
            <a:ext cx="868680" cy="530352"/>
          </a:xfrm>
          <a:prstGeom prst="rect">
            <a:avLst/>
          </a:prstGeom>
          <a:solidFill>
            <a:srgbClr val="C0392B">
              <a:alpha val="18000"/>
            </a:srgbClr>
          </a:solidFill>
          <a:ln w="12700">
            <a:solidFill>
              <a:srgbClr val="C0392B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371600"/>
            <a:ext cx="868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</a:rPr>
              <a:t>CRITICAL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98448" y="137160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C3A"/>
                </a:solidFill>
              </a:rPr>
              <a:t>No MFA on VPN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58768" y="1371600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</a:rPr>
              <a:t>Attacker entered with only a stolen password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27648" y="137160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A"/>
                </a:solidFill>
              </a:rPr>
              <a:t>Enforce MFA on all VPN immediately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1965960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1965960"/>
            <a:ext cx="868680" cy="530352"/>
          </a:xfrm>
          <a:prstGeom prst="rect">
            <a:avLst/>
          </a:prstGeom>
          <a:solidFill>
            <a:srgbClr val="E67E22">
              <a:alpha val="18000"/>
            </a:srgbClr>
          </a:solidFill>
          <a:ln w="12700">
            <a:solidFill>
              <a:srgbClr val="E67E22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1965960"/>
            <a:ext cx="868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7E22"/>
                </a:solidFill>
              </a:rPr>
              <a:t>HIGH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298448" y="196596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C3A"/>
                </a:solidFill>
              </a:rPr>
              <a:t>PrintNightmare unpatched 6 months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58768" y="1965960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</a:rPr>
              <a:t>Enabled full privilege escalation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27648" y="196596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A"/>
                </a:solidFill>
              </a:rPr>
              <a:t>48-hour critical patch SLA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560320"/>
            <a:ext cx="8595360" cy="530352"/>
          </a:xfrm>
          <a:prstGeom prst="rect">
            <a:avLst/>
          </a:prstGeom>
          <a:solidFill>
            <a:srgbClr val="F0EEE8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560320"/>
            <a:ext cx="868680" cy="530352"/>
          </a:xfrm>
          <a:prstGeom prst="rect">
            <a:avLst/>
          </a:prstGeom>
          <a:solidFill>
            <a:srgbClr val="E67E22">
              <a:alpha val="18000"/>
            </a:srgbClr>
          </a:solidFill>
          <a:ln w="12700">
            <a:solidFill>
              <a:srgbClr val="E67E22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560320"/>
            <a:ext cx="868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7E22"/>
                </a:solidFill>
              </a:rPr>
              <a:t>HIGH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298448" y="256032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C3A"/>
                </a:solidFill>
              </a:rPr>
              <a:t>No DLP solution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58768" y="2560320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</a:rPr>
              <a:t>2.3GB exfiltrated undetected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27648" y="256032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A"/>
                </a:solidFill>
              </a:rPr>
              <a:t>Deploy Data Loss Prevention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154680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154680"/>
            <a:ext cx="868680" cy="530352"/>
          </a:xfrm>
          <a:prstGeom prst="rect">
            <a:avLst/>
          </a:prstGeom>
          <a:solidFill>
            <a:srgbClr val="E67E22">
              <a:alpha val="18000"/>
            </a:srgbClr>
          </a:solidFill>
          <a:ln w="12700">
            <a:solidFill>
              <a:srgbClr val="E67E22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154680"/>
            <a:ext cx="868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7E22"/>
                </a:solidFill>
              </a:rPr>
              <a:t>HIGH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298448" y="315468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C3A"/>
                </a:solidFill>
              </a:rPr>
              <a:t>No email filtering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858768" y="3154680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</a:rPr>
              <a:t>Phishing email delivered successfully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27648" y="315468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A"/>
                </a:solidFill>
              </a:rPr>
              <a:t>Deploy Defender for Office 365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3749040"/>
            <a:ext cx="8595360" cy="530352"/>
          </a:xfrm>
          <a:prstGeom prst="rect">
            <a:avLst/>
          </a:prstGeom>
          <a:solidFill>
            <a:srgbClr val="F0EEE8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3749040"/>
            <a:ext cx="868680" cy="530352"/>
          </a:xfrm>
          <a:prstGeom prst="rect">
            <a:avLst/>
          </a:prstGeom>
          <a:solidFill>
            <a:srgbClr val="2E5FA3">
              <a:alpha val="18000"/>
            </a:srgbClr>
          </a:solidFill>
          <a:ln w="12700">
            <a:solidFill>
              <a:srgbClr val="2E5FA3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749040"/>
            <a:ext cx="868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5FA3"/>
                </a:solidFill>
              </a:rPr>
              <a:t>MEDIUM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298448" y="374904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C3A"/>
                </a:solidFill>
              </a:rPr>
              <a:t>No EDR on endpoints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858768" y="3749040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</a:rPr>
              <a:t>2nd infected workstation found late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27648" y="374904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A"/>
                </a:solidFill>
              </a:rPr>
              <a:t>Roll out EDR to all 200 hosts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4343400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4343400"/>
            <a:ext cx="868680" cy="530352"/>
          </a:xfrm>
          <a:prstGeom prst="rect">
            <a:avLst/>
          </a:prstGeom>
          <a:solidFill>
            <a:srgbClr val="0D9E75">
              <a:alpha val="18000"/>
            </a:srgbClr>
          </a:solidFill>
          <a:ln w="12700">
            <a:solidFill>
              <a:srgbClr val="0D9E75">
                <a:alpha val="3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343400"/>
            <a:ext cx="868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E75"/>
                </a:solidFill>
              </a:rPr>
              <a:t>MEDIUM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298448" y="434340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C3A"/>
                </a:solidFill>
              </a:rPr>
              <a:t>Daily backups only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858768" y="4343400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</a:rPr>
              <a:t>Lost same-day file activity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27648" y="434340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A"/>
                </a:solidFill>
              </a:rPr>
              <a:t>Move to hourly incremental backups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Recommendations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9E75"/>
                </a:solidFill>
              </a:rPr>
              <a:t>12 / 14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87552"/>
            <a:ext cx="50292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87552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1248" y="1115568"/>
            <a:ext cx="1005840" cy="274320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1155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</a:rPr>
              <a:t>Critical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41248" y="1005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D3C3A"/>
                </a:solidFill>
              </a:rPr>
              <a:t>Enforce MFA on VPN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987552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C97"/>
                </a:solidFill>
              </a:rPr>
              <a:t>Single highest-impact fix. One SMS code stops this entire attack at Stage 2.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655064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655064"/>
            <a:ext cx="502920" cy="594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655064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41248" y="1783080"/>
            <a:ext cx="1005840" cy="274320"/>
          </a:xfrm>
          <a:prstGeom prst="rect">
            <a:avLst/>
          </a:prstGeom>
          <a:solidFill>
            <a:srgbClr val="E67E22">
              <a:alpha val="15000"/>
            </a:srgbClr>
          </a:solidFill>
          <a:ln w="12700">
            <a:solidFill>
              <a:srgbClr val="E67E22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1783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7E22"/>
                </a:solidFill>
              </a:rPr>
              <a:t>High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41248" y="16733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D3C3A"/>
                </a:solidFill>
              </a:rPr>
              <a:t>48-hr Critical Patch SLA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1655064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C97"/>
                </a:solidFill>
              </a:rPr>
              <a:t>PrintNightmare was patched by Microsoft. It just wasn't applied. Process needs enforcement.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22576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322576"/>
            <a:ext cx="502920" cy="594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322576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41248" y="2450592"/>
            <a:ext cx="1005840" cy="274320"/>
          </a:xfrm>
          <a:prstGeom prst="rect">
            <a:avLst/>
          </a:prstGeom>
          <a:solidFill>
            <a:srgbClr val="E67E22">
              <a:alpha val="15000"/>
            </a:srgbClr>
          </a:solidFill>
          <a:ln w="12700">
            <a:solidFill>
              <a:srgbClr val="E67E22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24505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7E22"/>
                </a:solidFill>
              </a:rPr>
              <a:t>High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1248" y="23408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D3C3A"/>
                </a:solidFill>
              </a:rPr>
              <a:t>Deploy DLP Solution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2322576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C97"/>
                </a:solidFill>
              </a:rPr>
              <a:t>Cannot respond to data theft you cannot see. 2.3GB left the network silently.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990088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990088"/>
            <a:ext cx="502920" cy="594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99008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1248" y="3118104"/>
            <a:ext cx="1005840" cy="274320"/>
          </a:xfrm>
          <a:prstGeom prst="rect">
            <a:avLst/>
          </a:prstGeom>
          <a:solidFill>
            <a:srgbClr val="E67E22">
              <a:alpha val="15000"/>
            </a:srgbClr>
          </a:solidFill>
          <a:ln w="12700">
            <a:solidFill>
              <a:srgbClr val="E67E22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" y="31181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7E22"/>
                </a:solidFill>
              </a:rPr>
              <a:t>High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41248" y="30083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D3C3A"/>
                </a:solidFill>
              </a:rPr>
              <a:t>Advanced Email Filtering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29000" y="2990088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C97"/>
                </a:solidFill>
              </a:rPr>
              <a:t>Stop phishing before it reaches employees. Defender for Office 365.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65760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657600"/>
            <a:ext cx="502920" cy="5943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65760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41248" y="3785616"/>
            <a:ext cx="1005840" cy="274320"/>
          </a:xfrm>
          <a:prstGeom prst="rect">
            <a:avLst/>
          </a:prstGeom>
          <a:solidFill>
            <a:srgbClr val="2E5FA3">
              <a:alpha val="15000"/>
            </a:srgbClr>
          </a:solidFill>
          <a:ln w="12700">
            <a:solidFill>
              <a:srgbClr val="2E5FA3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37856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5FA3"/>
                </a:solidFill>
              </a:rPr>
              <a:t>Medium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41248" y="36758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D3C3A"/>
                </a:solidFill>
              </a:rPr>
              <a:t>EDR on All 200 Endpoints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429000" y="365760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C97"/>
                </a:solidFill>
              </a:rPr>
              <a:t>Full visibility across the estate. The 2nd workstation was invisible for 85 minutes.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4325112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4325112"/>
            <a:ext cx="502920" cy="594360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325112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41248" y="4453128"/>
            <a:ext cx="1005840" cy="274320"/>
          </a:xfrm>
          <a:prstGeom prst="rect">
            <a:avLst/>
          </a:prstGeom>
          <a:solidFill>
            <a:srgbClr val="0D9E75">
              <a:alpha val="15000"/>
            </a:srgbClr>
          </a:solidFill>
          <a:ln w="12700">
            <a:solidFill>
              <a:srgbClr val="0D9E75">
                <a:alpha val="3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1248" y="44531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E75"/>
                </a:solidFill>
              </a:rPr>
              <a:t>Medium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41248" y="4343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D3C3A"/>
                </a:solidFill>
              </a:rPr>
              <a:t>Hourly Incremental Backups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429000" y="4325112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C97"/>
                </a:solidFill>
              </a:rPr>
              <a:t>Reduce maximum data loss window from 24 hours to 1 hour.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3474720" cy="3474720"/>
          </a:xfrm>
          <a:prstGeom prst="ellipse">
            <a:avLst/>
          </a:prstGeom>
          <a:solidFill>
            <a:srgbClr val="0D9E75">
              <a:alpha val="15000"/>
            </a:srgbClr>
          </a:solidFill>
          <a:ln w="12700">
            <a:solidFill>
              <a:srgbClr val="0D9E75">
                <a:alpha val="2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06040" cy="2743200"/>
          </a:xfrm>
          <a:prstGeom prst="rect">
            <a:avLst/>
          </a:prstGeom>
          <a:solidFill>
            <a:srgbClr val="2E5FA3">
              <a:alpha val="80000"/>
            </a:srgbClr>
          </a:solidFill>
          <a:ln w="12700">
            <a:solidFill>
              <a:srgbClr val="2E5FA3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7043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People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1874520" cy="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688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Training, awareness, and a culture of security. One click caused this entire incident.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005840"/>
            <a:ext cx="2606040" cy="2743200"/>
          </a:xfrm>
          <a:prstGeom prst="rect">
            <a:avLst/>
          </a:prstGeom>
          <a:solidFill>
            <a:srgbClr val="0D9E75">
              <a:alpha val="80000"/>
            </a:srgbClr>
          </a:solidFill>
          <a:ln w="12700">
            <a:solidFill>
              <a:srgbClr val="0D9E75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18688" y="117043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18688" y="19202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Process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84448" y="2377440"/>
            <a:ext cx="1874520" cy="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24688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MFA wasn't deployed. The patch wasn't applied. Technology works only when process enforces it.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71616" y="1005840"/>
            <a:ext cx="2606040" cy="2743200"/>
          </a:xfrm>
          <a:prstGeom prst="rect">
            <a:avLst/>
          </a:prstGeom>
          <a:solidFill>
            <a:srgbClr val="E67E22">
              <a:alpha val="80000"/>
            </a:srgbClr>
          </a:solidFill>
          <a:ln w="12700">
            <a:solidFill>
              <a:srgbClr val="E67E22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71616" y="117043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71616" y="19202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Technology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37376" y="2377440"/>
            <a:ext cx="1874520" cy="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24688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The architecture worked — segmentation limited damage to 3 of 50 systems. Deploy more of it.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931920"/>
            <a:ext cx="8412480" cy="914400"/>
          </a:xfrm>
          <a:prstGeom prst="rect">
            <a:avLst/>
          </a:prstGeom>
          <a:solidFill>
            <a:srgbClr val="1A7A4A">
              <a:alpha val="80000"/>
            </a:srgbClr>
          </a:solidFill>
          <a:ln w="12700">
            <a:solidFill>
              <a:srgbClr val="1A7A4A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931920"/>
            <a:ext cx="64008" cy="9144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9776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simulation proved the framework works. Detected in 8 minutes. Contained in 32. Fully recovered in 3.5 hours. Zero ransom paid.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2743200"/>
            <a:ext cx="4114800" cy="4114800"/>
          </a:xfrm>
          <a:prstGeom prst="ellipse">
            <a:avLst/>
          </a:prstGeom>
          <a:solidFill>
            <a:srgbClr val="0D9E75">
              <a:alpha val="12000"/>
            </a:srgbClr>
          </a:solidFill>
          <a:ln w="12700">
            <a:solidFill>
              <a:srgbClr val="0D9E7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E5FA3">
              <a:alpha val="15000"/>
            </a:srgbClr>
          </a:solidFill>
          <a:ln w="12700">
            <a:solidFill>
              <a:srgbClr val="2E5FA3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Questions?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D9E75"/>
                </a:solidFill>
              </a:rPr>
              <a:t>Cybersecurity Incident Response Framework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999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E9C97"/>
                </a:solidFill>
              </a:rPr>
              <a:t>DEPI Academic Project — All 4 Weeks Complete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749040"/>
            <a:ext cx="169164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9476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E75"/>
                </a:solidFill>
              </a:rPr>
              <a:t>Role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4206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Research Lead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34640" y="3749040"/>
            <a:ext cx="169164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379476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E75"/>
                </a:solidFill>
              </a:rPr>
              <a:t>Role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4206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Technical Lead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3749040"/>
            <a:ext cx="169164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79476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E75"/>
                </a:solidFill>
              </a:rPr>
              <a:t>Role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4206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Documentation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75120" y="3749040"/>
            <a:ext cx="169164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379476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E75"/>
                </a:solidFill>
              </a:rPr>
              <a:t>Role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75120" y="4206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Presenter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E9C97"/>
                </a:solidFill>
              </a:rPr>
              <a:t>github.com/rei-rain/DEPI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IR Framework — Final Presentation</dc:title>
  <dc:subject>PptxGenJS Presentation</dc:subject>
  <dc:creator>DEPI Cybersecurity Team</dc:creator>
  <cp:lastModifiedBy>DEPI Cybersecurity Team</cp:lastModifiedBy>
  <cp:revision>1</cp:revision>
  <dcterms:created xsi:type="dcterms:W3CDTF">2026-03-27T03:56:52Z</dcterms:created>
  <dcterms:modified xsi:type="dcterms:W3CDTF">2026-03-27T03:56:52Z</dcterms:modified>
</cp:coreProperties>
</file>